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98" r:id="rId4"/>
    <p:sldId id="299" r:id="rId5"/>
    <p:sldId id="300" r:id="rId6"/>
    <p:sldId id="297" r:id="rId7"/>
    <p:sldId id="296" r:id="rId8"/>
    <p:sldId id="295" r:id="rId9"/>
    <p:sldId id="294" r:id="rId10"/>
    <p:sldId id="293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72" r:id="rId20"/>
    <p:sldId id="266" r:id="rId21"/>
    <p:sldId id="273" r:id="rId22"/>
    <p:sldId id="267" r:id="rId23"/>
    <p:sldId id="268" r:id="rId24"/>
    <p:sldId id="274" r:id="rId25"/>
    <p:sldId id="269" r:id="rId26"/>
    <p:sldId id="270" r:id="rId27"/>
    <p:sldId id="275" r:id="rId28"/>
    <p:sldId id="271" r:id="rId29"/>
    <p:sldId id="276" r:id="rId30"/>
    <p:sldId id="283" r:id="rId31"/>
    <p:sldId id="279" r:id="rId32"/>
    <p:sldId id="277" r:id="rId33"/>
    <p:sldId id="284" r:id="rId34"/>
    <p:sldId id="280" r:id="rId35"/>
    <p:sldId id="278" r:id="rId36"/>
    <p:sldId id="285" r:id="rId37"/>
    <p:sldId id="281" r:id="rId38"/>
    <p:sldId id="282" r:id="rId39"/>
    <p:sldId id="286" r:id="rId40"/>
    <p:sldId id="287" r:id="rId41"/>
    <p:sldId id="288" r:id="rId42"/>
    <p:sldId id="289" r:id="rId43"/>
    <p:sldId id="290" r:id="rId44"/>
    <p:sldId id="291" r:id="rId45"/>
    <p:sldId id="292" r:id="rId4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FDAEA-4193-44F9-919B-F326796F6E6A}" v="64" dt="2025-07-31T13:57:02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013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6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6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8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5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4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8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0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0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7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8/1/2025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642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719EDDD-75F0-42F0-9FBA-82D6BAEE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072EE-DED3-45DF-B7CD-47E91C088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noProof="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0" name="Decorative Circles">
            <a:extLst>
              <a:ext uri="{FF2B5EF4-FFF2-40B4-BE49-F238E27FC236}">
                <a16:creationId xmlns:a16="http://schemas.microsoft.com/office/drawing/2014/main" id="{49AF0C22-79F3-4121-B2E3-1A5BD6DCB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0784" y="956156"/>
            <a:ext cx="9049452" cy="1836961"/>
            <a:chOff x="374277" y="956155"/>
            <a:chExt cx="9049452" cy="183696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A2CD46D-8FF2-4D46-8CE0-4BFEE4D82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06096" y="1977248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795F990-FA41-4C07-B615-DB59874A8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68530" y="95615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6C37D09-BA87-426D-846A-D1009E018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10362" y="235440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10E27C6-5C0F-4D5F-BF37-9EF2B1D59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4277" y="1901154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B6B58BE-03E8-417B-AC8A-9EB512ACC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012" y="2326675"/>
              <a:ext cx="466441" cy="466441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7" name="Oval 3">
            <a:extLst>
              <a:ext uri="{FF2B5EF4-FFF2-40B4-BE49-F238E27FC236}">
                <a16:creationId xmlns:a16="http://schemas.microsoft.com/office/drawing/2014/main" id="{12F63773-0E40-438D-9621-EA29391F1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691555" y="1"/>
            <a:ext cx="4408870" cy="2474031"/>
          </a:xfrm>
          <a:custGeom>
            <a:avLst/>
            <a:gdLst>
              <a:gd name="connsiteX0" fmla="*/ 18128 w 4408870"/>
              <a:gd name="connsiteY0" fmla="*/ 0 h 2474031"/>
              <a:gd name="connsiteX1" fmla="*/ 4390742 w 4408870"/>
              <a:gd name="connsiteY1" fmla="*/ 0 h 2474031"/>
              <a:gd name="connsiteX2" fmla="*/ 4397489 w 4408870"/>
              <a:gd name="connsiteY2" fmla="*/ 44205 h 2474031"/>
              <a:gd name="connsiteX3" fmla="*/ 4408870 w 4408870"/>
              <a:gd name="connsiteY3" fmla="*/ 269596 h 2474031"/>
              <a:gd name="connsiteX4" fmla="*/ 2204435 w 4408870"/>
              <a:gd name="connsiteY4" fmla="*/ 2474031 h 2474031"/>
              <a:gd name="connsiteX5" fmla="*/ 0 w 4408870"/>
              <a:gd name="connsiteY5" fmla="*/ 269596 h 2474031"/>
              <a:gd name="connsiteX6" fmla="*/ 11381 w 4408870"/>
              <a:gd name="connsiteY6" fmla="*/ 44205 h 247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8870" h="2474031">
                <a:moveTo>
                  <a:pt x="18128" y="0"/>
                </a:moveTo>
                <a:lnTo>
                  <a:pt x="4390742" y="0"/>
                </a:lnTo>
                <a:lnTo>
                  <a:pt x="4397489" y="44205"/>
                </a:lnTo>
                <a:cubicBezTo>
                  <a:pt x="4405015" y="118312"/>
                  <a:pt x="4408870" y="193504"/>
                  <a:pt x="4408870" y="269596"/>
                </a:cubicBezTo>
                <a:cubicBezTo>
                  <a:pt x="4408870" y="1487072"/>
                  <a:pt x="3421911" y="2474031"/>
                  <a:pt x="2204435" y="2474031"/>
                </a:cubicBezTo>
                <a:cubicBezTo>
                  <a:pt x="986959" y="2474031"/>
                  <a:pt x="0" y="1487072"/>
                  <a:pt x="0" y="269596"/>
                </a:cubicBezTo>
                <a:cubicBezTo>
                  <a:pt x="0" y="193504"/>
                  <a:pt x="3855" y="118312"/>
                  <a:pt x="11381" y="4420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4">
            <a:extLst>
              <a:ext uri="{FF2B5EF4-FFF2-40B4-BE49-F238E27FC236}">
                <a16:creationId xmlns:a16="http://schemas.microsoft.com/office/drawing/2014/main" id="{0BDF5F84-25C5-4D27-9CC3-6DE3DE664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37922" y="94984"/>
            <a:ext cx="3334017" cy="33340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Resim 6" descr="grafik, ekran görüntüsü, yazı tipi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35C5DAA-0AC4-A8A4-6AD1-E583C26AA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098" y="2411092"/>
            <a:ext cx="2516983" cy="1038255"/>
          </a:xfrm>
          <a:prstGeom prst="rect">
            <a:avLst/>
          </a:prstGeom>
        </p:spPr>
      </p:pic>
      <p:sp>
        <p:nvSpPr>
          <p:cNvPr id="41" name="Oval 2">
            <a:extLst>
              <a:ext uri="{FF2B5EF4-FFF2-40B4-BE49-F238E27FC236}">
                <a16:creationId xmlns:a16="http://schemas.microsoft.com/office/drawing/2014/main" id="{7352C892-F81A-48CC-9A8D-464D5664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9356542" y="1"/>
            <a:ext cx="2861965" cy="3133761"/>
          </a:xfrm>
          <a:custGeom>
            <a:avLst/>
            <a:gdLst>
              <a:gd name="connsiteX0" fmla="*/ 152193 w 2976254"/>
              <a:gd name="connsiteY0" fmla="*/ 0 h 3258904"/>
              <a:gd name="connsiteX1" fmla="*/ 2976254 w 2976254"/>
              <a:gd name="connsiteY1" fmla="*/ 0 h 3258904"/>
              <a:gd name="connsiteX2" fmla="*/ 2976254 w 2976254"/>
              <a:gd name="connsiteY2" fmla="*/ 3192289 h 3258904"/>
              <a:gd name="connsiteX3" fmla="*/ 2908439 w 2976254"/>
              <a:gd name="connsiteY3" fmla="*/ 3209726 h 3258904"/>
              <a:gd name="connsiteX4" fmla="*/ 2420603 w 2976254"/>
              <a:gd name="connsiteY4" fmla="*/ 3258904 h 3258904"/>
              <a:gd name="connsiteX5" fmla="*/ 0 w 2976254"/>
              <a:gd name="connsiteY5" fmla="*/ 838301 h 3258904"/>
              <a:gd name="connsiteX6" fmla="*/ 108826 w 2976254"/>
              <a:gd name="connsiteY6" fmla="*/ 118488 h 3258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6254" h="3258904">
                <a:moveTo>
                  <a:pt x="152193" y="0"/>
                </a:moveTo>
                <a:lnTo>
                  <a:pt x="2976254" y="0"/>
                </a:lnTo>
                <a:lnTo>
                  <a:pt x="2976254" y="3192289"/>
                </a:lnTo>
                <a:lnTo>
                  <a:pt x="2908439" y="3209726"/>
                </a:lnTo>
                <a:cubicBezTo>
                  <a:pt x="2750864" y="3241971"/>
                  <a:pt x="2587711" y="3258904"/>
                  <a:pt x="2420603" y="3258904"/>
                </a:cubicBezTo>
                <a:cubicBezTo>
                  <a:pt x="1083741" y="3258904"/>
                  <a:pt x="0" y="2175163"/>
                  <a:pt x="0" y="838301"/>
                </a:cubicBezTo>
                <a:cubicBezTo>
                  <a:pt x="0" y="587639"/>
                  <a:pt x="38100" y="345877"/>
                  <a:pt x="108826" y="1184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 noProof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Resim 8">
            <a:extLst>
              <a:ext uri="{FF2B5EF4-FFF2-40B4-BE49-F238E27FC236}">
                <a16:creationId xmlns:a16="http://schemas.microsoft.com/office/drawing/2014/main" id="{36D30E41-08A5-496B-A1F8-8DF10E41B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4507" y="136522"/>
            <a:ext cx="2100287" cy="2100287"/>
          </a:xfrm>
          <a:prstGeom prst="rect">
            <a:avLst/>
          </a:prstGeom>
        </p:spPr>
      </p:pic>
      <p:sp>
        <p:nvSpPr>
          <p:cNvPr id="43" name="Oval 1">
            <a:extLst>
              <a:ext uri="{FF2B5EF4-FFF2-40B4-BE49-F238E27FC236}">
                <a16:creationId xmlns:a16="http://schemas.microsoft.com/office/drawing/2014/main" id="{6E90E3D6-5AD5-404F-9099-659FC56D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507" y="3219079"/>
            <a:ext cx="3186814" cy="3638922"/>
          </a:xfrm>
          <a:custGeom>
            <a:avLst/>
            <a:gdLst>
              <a:gd name="connsiteX0" fmla="*/ 1156116 w 3186814"/>
              <a:gd name="connsiteY0" fmla="*/ 0 h 3638922"/>
              <a:gd name="connsiteX1" fmla="*/ 3186814 w 3186814"/>
              <a:gd name="connsiteY1" fmla="*/ 2030698 h 3638922"/>
              <a:gd name="connsiteX2" fmla="*/ 2447829 w 3186814"/>
              <a:gd name="connsiteY2" fmla="*/ 3597684 h 3638922"/>
              <a:gd name="connsiteX3" fmla="*/ 2392682 w 3186814"/>
              <a:gd name="connsiteY3" fmla="*/ 3638922 h 3638922"/>
              <a:gd name="connsiteX4" fmla="*/ 0 w 3186814"/>
              <a:gd name="connsiteY4" fmla="*/ 3638922 h 3638922"/>
              <a:gd name="connsiteX5" fmla="*/ 0 w 3186814"/>
              <a:gd name="connsiteY5" fmla="*/ 362315 h 3638922"/>
              <a:gd name="connsiteX6" fmla="*/ 20733 w 3186814"/>
              <a:gd name="connsiteY6" fmla="*/ 346811 h 3638922"/>
              <a:gd name="connsiteX7" fmla="*/ 1156116 w 3186814"/>
              <a:gd name="connsiteY7" fmla="*/ 0 h 3638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86814" h="3638922">
                <a:moveTo>
                  <a:pt x="1156116" y="0"/>
                </a:moveTo>
                <a:cubicBezTo>
                  <a:pt x="2277640" y="0"/>
                  <a:pt x="3186814" y="909174"/>
                  <a:pt x="3186814" y="2030698"/>
                </a:cubicBezTo>
                <a:cubicBezTo>
                  <a:pt x="3186814" y="2661556"/>
                  <a:pt x="2899146" y="3225224"/>
                  <a:pt x="2447829" y="3597684"/>
                </a:cubicBezTo>
                <a:lnTo>
                  <a:pt x="2392682" y="3638922"/>
                </a:lnTo>
                <a:lnTo>
                  <a:pt x="0" y="3638922"/>
                </a:lnTo>
                <a:lnTo>
                  <a:pt x="0" y="362315"/>
                </a:lnTo>
                <a:lnTo>
                  <a:pt x="20733" y="346811"/>
                </a:lnTo>
                <a:cubicBezTo>
                  <a:pt x="344835" y="127853"/>
                  <a:pt x="735545" y="0"/>
                  <a:pt x="11561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Resim 9" descr="işaret içeren bir resim&#10;&#10;Çok yüksek güvenilirlikle oluşturulmuş açıklama">
            <a:extLst>
              <a:ext uri="{FF2B5EF4-FFF2-40B4-BE49-F238E27FC236}">
                <a16:creationId xmlns:a16="http://schemas.microsoft.com/office/drawing/2014/main" id="{713E07D1-A520-441F-8C04-DE6FDC1ED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7" y="4091675"/>
            <a:ext cx="2211013" cy="2220883"/>
          </a:xfrm>
          <a:prstGeom prst="rect">
            <a:avLst/>
          </a:prstGeom>
        </p:spPr>
      </p:pic>
      <p:sp>
        <p:nvSpPr>
          <p:cNvPr id="24" name="Başlık 23">
            <a:extLst>
              <a:ext uri="{FF2B5EF4-FFF2-40B4-BE49-F238E27FC236}">
                <a16:creationId xmlns:a16="http://schemas.microsoft.com/office/drawing/2014/main" id="{0BE1527A-CE22-DCB5-90E1-FFD400BDC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7260" y="3079023"/>
            <a:ext cx="4942132" cy="1706806"/>
          </a:xfrm>
        </p:spPr>
        <p:txBody>
          <a:bodyPr>
            <a:normAutofit/>
          </a:bodyPr>
          <a:lstStyle/>
          <a:p>
            <a:r>
              <a:rPr lang="en-US" sz="2800" b="1" spc="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 FROM TV SERIES AUDIO CLIPS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02F657DE-E334-E7DC-3517-3F8A0FE6A78B}"/>
              </a:ext>
            </a:extLst>
          </p:cNvPr>
          <p:cNvSpPr txBox="1"/>
          <p:nvPr/>
        </p:nvSpPr>
        <p:spPr>
          <a:xfrm>
            <a:off x="9116213" y="5111010"/>
            <a:ext cx="25506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TUNCAY KÖSE</a:t>
            </a:r>
          </a:p>
          <a:p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</a:t>
            </a:r>
          </a:p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ÖZLEM ÖZTÜRK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D5DE43-EE3C-698E-BE6C-C189420C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402626"/>
          </a:xfrm>
        </p:spPr>
        <p:txBody>
          <a:bodyPr>
            <a:noAutofit/>
          </a:bodyPr>
          <a:lstStyle/>
          <a:p>
            <a:r>
              <a:rPr lang="en-US" sz="3000" noProof="0" dirty="0"/>
              <a:t>OUTLINE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17C7DE-BDB1-200A-8295-41CB600BC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86928"/>
            <a:ext cx="10659110" cy="5090035"/>
          </a:xfrm>
        </p:spPr>
        <p:txBody>
          <a:bodyPr>
            <a:normAutofit fontScale="85000" lnSpcReduction="20000"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(MELD)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Cleaning &amp; Filtering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Transcription + 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Diarization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Preprocessing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&amp; Dimensionality Reduction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 (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PCA) 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 (ML, DL, and SOTA)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 (Real-time Deployment)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Tools, Libraries, and IDEs Used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 &amp; Q/A</a:t>
            </a:r>
          </a:p>
        </p:txBody>
      </p:sp>
    </p:spTree>
    <p:extLst>
      <p:ext uri="{BB962C8B-B14F-4D97-AF65-F5344CB8AC3E}">
        <p14:creationId xmlns:p14="http://schemas.microsoft.com/office/powerpoint/2010/main" val="343824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4DEB7A-262E-D0CA-E222-80E01210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626913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B29110-0D34-C050-C669-C3AFFA382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38687"/>
            <a:ext cx="9928141" cy="503827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</a:t>
            </a:r>
            <a:r>
              <a:rPr lang="en-US" sz="13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Project?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SER is still challenging</a:t>
            </a:r>
          </a:p>
          <a:p>
            <a:pPr lvl="3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in noisy, multi-speaker environments (TV shows, movies, podcasts)</a:t>
            </a:r>
          </a:p>
          <a:p>
            <a:pPr lvl="2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use clean lab data</a:t>
            </a:r>
          </a:p>
          <a:p>
            <a:pPr lvl="3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Fails to capture spontaneous, emotional speech patterns</a:t>
            </a:r>
          </a:p>
          <a:p>
            <a:pPr marL="914400" lvl="2" indent="0">
              <a:buNone/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2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build an accurate, speaker-personalized, and real-world Speech Emotion Recognition system that works on spontaneous TV dialogues?</a:t>
            </a:r>
          </a:p>
          <a:p>
            <a:pPr lvl="2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Joey from Friends</a:t>
            </a:r>
          </a:p>
          <a:p>
            <a:pPr lvl="3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speaker → Controlled prosodic patterns → Reliable emotion modeling</a:t>
            </a:r>
          </a:p>
          <a:p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8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2D7D5A-78F9-B771-BC53-3A3F9DAC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532022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 </a:t>
            </a:r>
            <a:r>
              <a:rPr lang="en-US" sz="3200" noProof="0" dirty="0"/>
              <a:t>cont’d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40576F-268C-EFD5-006F-1B0948C6D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43796"/>
            <a:ext cx="10659110" cy="513316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lvl="1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speaker-specific SER system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only raw audio from natural dialogues (no text/video cues)</a:t>
            </a:r>
          </a:p>
          <a:p>
            <a:pPr lvl="1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modeling pipeline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(handcrafted features)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(spectrograms, 1D audio)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Transformers (Wav2Vec2.0,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robust preprocessing pipeline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 (Whisper), Diarization (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Alignment metrics (WER,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Denoising, Silence trimming</a:t>
            </a:r>
          </a:p>
          <a:p>
            <a:pPr lvl="1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data via audio augmentation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shift, echo, filters, time-stretch, etc.</a:t>
            </a:r>
          </a:p>
          <a:p>
            <a:pPr lvl="1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feature strategies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Prosodic/spectral (MFCC, jitter, formants)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(Mel/MFCC spectrograms)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embeddings (CLS token, end-to-end)</a:t>
            </a:r>
          </a:p>
          <a:p>
            <a:pPr lvl="1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on speaker-specific test set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Accuracy, F1-macro, confusion matrix</a:t>
            </a:r>
          </a:p>
          <a:p>
            <a:pPr lvl="1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with user-friendly GUI</a:t>
            </a:r>
          </a:p>
          <a:p>
            <a:pPr lvl="2">
              <a:lnSpc>
                <a:spcPct val="10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predictions with any selected model</a:t>
            </a:r>
          </a:p>
          <a:p>
            <a:pPr>
              <a:lnSpc>
                <a:spcPct val="10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36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34B7B6-E081-496B-369D-F4B8E7AF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14769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 </a:t>
            </a:r>
            <a:r>
              <a:rPr lang="en-US" sz="3200" dirty="0"/>
              <a:t>cont’d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EFC5F3-C253-9A80-67CC-416D7A63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79894"/>
            <a:ext cx="10659110" cy="5297069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Motivation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Adaptation Needed</a:t>
            </a:r>
            <a:b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Lab-trained models struggle with spontaneous speech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are Promising</a:t>
            </a:r>
            <a:b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features but need comparison with classical methods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Audio-only Systems are Still Relevant</a:t>
            </a:r>
            <a:b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 is often impractical in real-life scenarios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bridges lab research and real-world use, offering a scalable, speaker-personalized, audio-only SER solution.</a:t>
            </a:r>
          </a:p>
          <a:p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341158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11E670-75AC-F2FD-FB2D-58D186D7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635539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(MELD)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060C912-BA6A-DBC1-BFE9-43DC56BEC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61690"/>
            <a:ext cx="4648775" cy="50152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MELD?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EmotionLines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(MELD) is a benchmark corpus for emotion recognition in multi-party conversations.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from the Friends TV show, it includes synchronized text, and video modalities.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this project only for speech-based emotion recognition (audio modality).</a:t>
            </a:r>
          </a:p>
          <a:p>
            <a:pPr>
              <a:lnSpc>
                <a:spcPct val="15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~13,000 utterances across 1,400+ dialogues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emotion labels: Anger, Disgust, Sadness, Joy, Neutral, Surprise, Fear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Columns: Utterance, Speaker, Emotion,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Dialogue_ID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Utterance_ID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StartTime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EndTime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(+ added Gender and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31D3C1C5-6A71-3F1C-FD23-577D3277F365}"/>
              </a:ext>
            </a:extLst>
          </p:cNvPr>
          <p:cNvSpPr txBox="1">
            <a:spLocks/>
          </p:cNvSpPr>
          <p:nvPr/>
        </p:nvSpPr>
        <p:spPr>
          <a:xfrm>
            <a:off x="6280030" y="1161690"/>
            <a:ext cx="4648775" cy="501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into: train_sent_emo.csv, dev_sent_emo.csv, test_sent_emo.csv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files (.mp4) named as: diaX_uttY.mp4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extracted via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ffmpeg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saved as diaX_uttY.wav (mono, 16kHz)</a:t>
            </a:r>
          </a:p>
          <a:p>
            <a:pPr>
              <a:lnSpc>
                <a:spcPct val="15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MELD?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Real-life, emotionally rich, naturalistic dialogues</a:t>
            </a:r>
          </a:p>
          <a:p>
            <a:pPr lvl="1">
              <a:lnSpc>
                <a:spcPct val="150000"/>
              </a:lnSpc>
            </a:pP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training robust and realistic SER models</a:t>
            </a:r>
          </a:p>
        </p:txBody>
      </p:sp>
    </p:spTree>
    <p:extLst>
      <p:ext uri="{BB962C8B-B14F-4D97-AF65-F5344CB8AC3E}">
        <p14:creationId xmlns:p14="http://schemas.microsoft.com/office/powerpoint/2010/main" val="387326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0EDB08-AD6C-A6AB-6835-55D107DC3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747683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Cleaning &amp; Filtering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5A9394-D7D0-4596-64F3-5BF94B909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90445"/>
            <a:ext cx="10659110" cy="4986518"/>
          </a:xfrm>
        </p:spPr>
        <p:txBody>
          <a:bodyPr>
            <a:noAutofit/>
          </a:bodyPr>
          <a:lstStyle/>
          <a:p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lvl="1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 clean subset focused only on Joey (single male voice)</a:t>
            </a:r>
          </a:p>
          <a:p>
            <a:pPr lvl="1"/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Steps</a:t>
            </a:r>
          </a:p>
          <a:p>
            <a:pPr lvl="1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Matching Check</a:t>
            </a:r>
          </a:p>
          <a:p>
            <a:pPr lvl="2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consistency between video files and transcript CSVs</a:t>
            </a:r>
          </a:p>
          <a:p>
            <a:pPr lvl="2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Matched using: diaX_uttY.mp4 ↔︎ </a:t>
            </a:r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Dialogue_ID</a:t>
            </a: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Utterance_ID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Integrity &amp; Usability</a:t>
            </a:r>
          </a:p>
          <a:p>
            <a:pPr lvl="2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if each video can be opened and processed using </a:t>
            </a:r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ffmpeg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that each video contains audible speech (not silent)</a:t>
            </a:r>
          </a:p>
          <a:p>
            <a:pPr lvl="1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Audio Removal</a:t>
            </a:r>
          </a:p>
          <a:p>
            <a:pPr lvl="2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clips shorter than 0.5 seconds (based on </a:t>
            </a:r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Filtering</a:t>
            </a:r>
          </a:p>
          <a:p>
            <a:pPr lvl="2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only utterances spoken by Joey (one consistent male voice)</a:t>
            </a:r>
          </a:p>
          <a:p>
            <a:pPr lvl="1"/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829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46BD39-4DF2-2747-4315-44073CE9C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601033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Transcription + </a:t>
            </a:r>
            <a:r>
              <a:rPr lang="en-US" sz="3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Diarization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64E508-D619-E5CB-B422-C7D7AAC9A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825625"/>
            <a:ext cx="376888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Why This Was Done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MELD audio files were often misaligned or inconsistent with the transcripts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audio files contained multiple speakers, making speaker-specific modeling unreliable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extract accurate, Joey-only utterances with aligned text and clean audio</a:t>
            </a:r>
          </a:p>
          <a:p>
            <a:pPr>
              <a:lnSpc>
                <a:spcPct val="15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A68C2872-24C1-4C25-1D19-F35501289826}"/>
              </a:ext>
            </a:extLst>
          </p:cNvPr>
          <p:cNvSpPr txBox="1">
            <a:spLocks/>
          </p:cNvSpPr>
          <p:nvPr/>
        </p:nvSpPr>
        <p:spPr>
          <a:xfrm>
            <a:off x="5139331" y="1825624"/>
            <a:ext cx="6031877" cy="4351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Done</a:t>
            </a:r>
          </a:p>
          <a:p>
            <a:pPr>
              <a:lnSpc>
                <a:spcPct val="100000"/>
              </a:lnSpc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Transcription: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Whisper (large-v3) to generate transcripts from .wav files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multiple text similarity metrics compared to MELD reference: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WER, CER, </a:t>
            </a:r>
            <a:r>
              <a:rPr lang="en-US" sz="1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SequenceMatcher</a:t>
            </a: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Cosine (with all-MiniLM-L6-v2), Jaccard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into a </a:t>
            </a:r>
            <a:r>
              <a:rPr lang="en-US" sz="1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Meta_Confidence</a:t>
            </a: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 (0–1)</a:t>
            </a:r>
          </a:p>
          <a:p>
            <a:pPr>
              <a:lnSpc>
                <a:spcPct val="100000"/>
              </a:lnSpc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Speaker Diarization: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</a:t>
            </a: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number of speakers (</a:t>
            </a:r>
            <a:r>
              <a:rPr lang="en-US" sz="1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Speaker_Count</a:t>
            </a: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with </a:t>
            </a:r>
            <a:r>
              <a:rPr lang="en-US" sz="1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Meta_Confidence</a:t>
            </a: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0.85 and </a:t>
            </a:r>
            <a:r>
              <a:rPr lang="en-US" sz="1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Speaker_Count</a:t>
            </a: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marked as clean</a:t>
            </a:r>
          </a:p>
          <a:p>
            <a:pPr>
              <a:lnSpc>
                <a:spcPct val="100000"/>
              </a:lnSpc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Segment-Level Filtering (for noisy files):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segment-level timestamps analyzed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segment, calculated: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(all-MiniLM-L6-v2)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SequenceMatcher</a:t>
            </a: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Jaccard similarity</a:t>
            </a:r>
          </a:p>
          <a:p>
            <a:pPr lvl="1">
              <a:lnSpc>
                <a:spcPct val="100000"/>
              </a:lnSpc>
            </a:pPr>
            <a:r>
              <a:rPr lang="en-US" sz="1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passing thresholds (0.75 / 0.75 / 0.50) merged into new transcript</a:t>
            </a:r>
          </a:p>
        </p:txBody>
      </p:sp>
    </p:spTree>
    <p:extLst>
      <p:ext uri="{BB962C8B-B14F-4D97-AF65-F5344CB8AC3E}">
        <p14:creationId xmlns:p14="http://schemas.microsoft.com/office/powerpoint/2010/main" val="371639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F68B0D-F053-C38C-B7B8-D4DB09F5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532022"/>
          </a:xfrm>
        </p:spPr>
        <p:txBody>
          <a:bodyPr>
            <a:normAutofit fontScale="90000"/>
          </a:bodyPr>
          <a:lstStyle/>
          <a:p>
            <a:r>
              <a:rPr lang="en-US" sz="3200" noProof="0" dirty="0"/>
              <a:t>Audio Preprocessing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BB70B0-D77D-6BDB-36C2-97C9D5BA5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17917"/>
            <a:ext cx="10659110" cy="51590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Resample to 16kHz if needed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 silent parts using energy-based detection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Denoise with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noisereduce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remove background noise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 normalization to standardize volume levels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Discard audio files shorter than 0.5 seconds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 short files to a minimum of 1 second duration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all processed files as 16-bit PCM WAVs</a:t>
            </a:r>
          </a:p>
          <a:p>
            <a:pPr>
              <a:lnSpc>
                <a:spcPct val="15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Resim 6" descr="metin, ekran görüntüsü, doküman, belg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11C1C57-AC65-9733-628F-4FB75F142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468" y="1017917"/>
            <a:ext cx="3358768" cy="437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0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6606E4-F4F3-B3CA-0E74-05E2B618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601033"/>
          </a:xfrm>
        </p:spPr>
        <p:txBody>
          <a:bodyPr>
            <a:normAutofit/>
          </a:bodyPr>
          <a:lstStyle/>
          <a:p>
            <a:r>
              <a:rPr lang="en-US" sz="3200" noProof="0" dirty="0"/>
              <a:t>Data Augmentation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7C2069-BAC9-9FCD-B587-76651490B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73192"/>
            <a:ext cx="10659110" cy="50037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Augmentation?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class imbalance in the Joey-filtered MELD dataset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expose models to diverse acoustic variations within each emotion class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robustness and generalization of ML, DL, and SOTA models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Done?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noise addition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shifting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stretching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change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shifting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addition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Bandpass &amp; lowpass filtering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reversal</a:t>
            </a:r>
          </a:p>
          <a:p>
            <a:pPr>
              <a:lnSpc>
                <a:spcPct val="15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289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3023E8-4CDC-2BFC-CAC8-F57635D3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670045"/>
          </a:xfrm>
        </p:spPr>
        <p:txBody>
          <a:bodyPr>
            <a:normAutofit/>
          </a:bodyPr>
          <a:lstStyle/>
          <a:p>
            <a:r>
              <a:rPr lang="en-US" sz="3200" noProof="0" dirty="0"/>
              <a:t>Feature Extraction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BD2633-3423-1D9D-D3DE-23FBEB306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90445"/>
            <a:ext cx="10659110" cy="4986518"/>
          </a:xfrm>
        </p:spPr>
        <p:txBody>
          <a:bodyPr>
            <a:normAutofit/>
          </a:bodyPr>
          <a:lstStyle/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was performed differently for each type of model:</a:t>
            </a:r>
          </a:p>
          <a:p>
            <a:pPr lvl="1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&amp; DL (Torch/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MLP) –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Parselmouth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PyWavelets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openSMILE</a:t>
            </a: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~1480-dimensional feature vectors per sample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via statistical descriptors: mean, std, min, max, skewness, kurtosis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Groups: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MFCCs + Δ + Δ² (Cepstral)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 &amp; Mel Spectrogram (Spectral)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contrast, centroid,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rolloff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bandwidth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(YIN), ZCR, RMS, DFT, Wavelet, TEO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quality: Jitter, Shimmer, HNR, Formants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eGeMAPSv01a (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OpenSMILE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Toolkit)</a:t>
            </a:r>
          </a:p>
        </p:txBody>
      </p:sp>
    </p:spTree>
    <p:extLst>
      <p:ext uri="{BB962C8B-B14F-4D97-AF65-F5344CB8AC3E}">
        <p14:creationId xmlns:p14="http://schemas.microsoft.com/office/powerpoint/2010/main" val="374722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17584D-F4BD-6E9D-0C04-ED335735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713177"/>
          </a:xfrm>
        </p:spPr>
        <p:txBody>
          <a:bodyPr>
            <a:normAutofit/>
          </a:bodyPr>
          <a:lstStyle/>
          <a:p>
            <a:r>
              <a:rPr lang="en-US" sz="3200" noProof="0" dirty="0"/>
              <a:t>Feature Extraction cont’d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469FE5-46FA-9CD3-CD5D-3B3E25B4A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216325"/>
            <a:ext cx="10659110" cy="4960638"/>
          </a:xfrm>
        </p:spPr>
        <p:txBody>
          <a:bodyPr>
            <a:normAutofit/>
          </a:bodyPr>
          <a:lstStyle/>
          <a:p>
            <a:pPr lvl="1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(CNN, LSTM,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utilized visual and sequential representations extracted from audio signals: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Matplotlib, PIL, NumPy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Techniques: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 Spectrogram (grayscale) (128×128 or 224×224)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MFCC Image (grayscale) (128×128)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Fusion: R=MFCC, G=Delta, B=Delta²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Multi-Input CNN: Parallel MFCC and Mel inputs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[T, 120] shape: 40 MFCC + 40 Delta + 40 Delta²</a:t>
            </a:r>
          </a:p>
          <a:p>
            <a:pPr marL="0" indent="0">
              <a:buNone/>
            </a:pP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915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3C538A-4CE5-941D-0EEB-349E8063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704550"/>
          </a:xfrm>
        </p:spPr>
        <p:txBody>
          <a:bodyPr>
            <a:normAutofit/>
          </a:bodyPr>
          <a:lstStyle/>
          <a:p>
            <a:r>
              <a:rPr lang="en-US" sz="3200" noProof="0" dirty="0"/>
              <a:t>Feature Extraction cont’d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3EB1BD0-D15E-E8EC-6467-25837958D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250830"/>
            <a:ext cx="10659110" cy="492613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(Transformer-based Models) –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torchaudio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PyTorch,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Embedding + MLP Classifier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 Models: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Wav2Vec2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→ Transformer → Frozen Embedding (CLS token or mean-pooled)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dim: 768–1024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 separate MLP classifier</a:t>
            </a:r>
          </a:p>
          <a:p>
            <a:pPr marL="1371600" lvl="3" indent="0">
              <a:buNone/>
            </a:pP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Fine-tuned Transformer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waveform input directly fed into the transformer</a:t>
            </a:r>
          </a:p>
          <a:p>
            <a:pPr lvl="3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model trained for 7-class emotion classification</a:t>
            </a:r>
          </a:p>
          <a:p>
            <a:pPr lvl="3"/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Trainer,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 training</a:t>
            </a:r>
          </a:p>
        </p:txBody>
      </p:sp>
    </p:spTree>
    <p:extLst>
      <p:ext uri="{BB962C8B-B14F-4D97-AF65-F5344CB8AC3E}">
        <p14:creationId xmlns:p14="http://schemas.microsoft.com/office/powerpoint/2010/main" val="2508479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01532F-65D3-CA90-FC09-3D7317D6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44166"/>
          </a:xfrm>
        </p:spPr>
        <p:txBody>
          <a:bodyPr>
            <a:normAutofit/>
          </a:bodyPr>
          <a:lstStyle/>
          <a:p>
            <a:r>
              <a:rPr lang="en-US" sz="3200" noProof="0" dirty="0"/>
              <a:t>Feature Selection &amp; Dimensionality Reduction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15FF19-D964-B92E-8941-A6BEE283A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242204"/>
            <a:ext cx="10659110" cy="4934759"/>
          </a:xfrm>
        </p:spPr>
        <p:txBody>
          <a:bodyPr>
            <a:normAutofit/>
          </a:bodyPr>
          <a:lstStyle/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the high-dimensional feature space (~1480 features), several feature selection and dimensionality reduction techniques were applied: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Reduce overfitting, improve generalization, accelerate training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feature sets were saved as CSVs and used across ML and MLP models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Techniques: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Boruta (RF-based wrapper)</a:t>
            </a:r>
          </a:p>
          <a:p>
            <a:pPr lvl="1"/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(Mutual Info)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Importance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RFE (Recursive Feature Elimination)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SFFS (Sequential Floating Forward Selection)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Reduction: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Autoencoder: Learned latent embeddings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Boruta + Autoencoder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Boruta + RF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Boruta + Autoencoder + RF</a:t>
            </a:r>
          </a:p>
          <a:p>
            <a:pPr marL="457200" lvl="1" indent="0">
              <a:buNone/>
            </a:pP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86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862E5D-2441-32DC-6FD6-7D3CD7091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92407"/>
          </a:xfrm>
        </p:spPr>
        <p:txBody>
          <a:bodyPr>
            <a:normAutofit/>
          </a:bodyPr>
          <a:lstStyle/>
          <a:p>
            <a:r>
              <a:rPr lang="en-US" sz="3200" noProof="0" dirty="0"/>
              <a:t>Undersampling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46A37C-C688-CA49-0640-3C893C82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78302"/>
            <a:ext cx="10659110" cy="5098661"/>
          </a:xfrm>
        </p:spPr>
        <p:txBody>
          <a:bodyPr>
            <a:normAutofit/>
          </a:bodyPr>
          <a:lstStyle/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class imbalance (especially over-represented </a:t>
            </a:r>
            <a:r>
              <a:rPr lang="en-US" sz="17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class), custom undersampling strategies were applied: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Models: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Feature-based undersampling using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"neutral" vectors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representative samples selected via clustering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Models: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+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 applied on MFCC/Mel/RGB images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Models (Pretrained):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Embedding-level clustering with PCA +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transformer features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(End-to-End):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undersampling of </a:t>
            </a:r>
            <a:r>
              <a:rPr lang="en-US" sz="17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samples (no feature available)</a:t>
            </a:r>
          </a:p>
        </p:txBody>
      </p:sp>
    </p:spTree>
    <p:extLst>
      <p:ext uri="{BB962C8B-B14F-4D97-AF65-F5344CB8AC3E}">
        <p14:creationId xmlns:p14="http://schemas.microsoft.com/office/powerpoint/2010/main" val="3233388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31451C-29C4-9933-3A97-40CC5905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52792"/>
          </a:xfrm>
        </p:spPr>
        <p:txBody>
          <a:bodyPr>
            <a:normAutofit/>
          </a:bodyPr>
          <a:lstStyle/>
          <a:p>
            <a:r>
              <a:rPr lang="en-US" sz="3200" noProof="0" dirty="0"/>
              <a:t>Models Used (ML, DL, and SOTA)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EBE3405-88A7-0ED9-C096-D7C3A2A43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224951"/>
            <a:ext cx="10659110" cy="4952012"/>
          </a:xfrm>
        </p:spPr>
        <p:txBody>
          <a:bodyPr>
            <a:normAutofit/>
          </a:bodyPr>
          <a:lstStyle/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 variety of models were implemented to explore different learning paradigms:</a:t>
            </a:r>
          </a:p>
          <a:p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Machine Learning (9 Models):</a:t>
            </a:r>
          </a:p>
          <a:p>
            <a:pPr lvl="1"/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SVM, Random Forest, </a:t>
            </a:r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KNN, Bagging Classifier, Gradient Boosting</a:t>
            </a:r>
          </a:p>
          <a:p>
            <a:pPr lvl="1"/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MLP</a:t>
            </a:r>
          </a:p>
          <a:p>
            <a:pPr lvl="1"/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Hard-Voting, Soft-Voting</a:t>
            </a:r>
          </a:p>
          <a:p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trained with 11 distinct feature sets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99 models</a:t>
            </a:r>
          </a:p>
          <a:p>
            <a:pPr lvl="1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589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607F3C-7A9F-00E0-A878-0430EFD5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87298"/>
          </a:xfrm>
        </p:spPr>
        <p:txBody>
          <a:bodyPr>
            <a:normAutofit/>
          </a:bodyPr>
          <a:lstStyle/>
          <a:p>
            <a:r>
              <a:rPr lang="en-US" sz="3200" noProof="0" dirty="0"/>
              <a:t>Models Used (ML, DL, and SOTA) cont’d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22E2EB-7A77-1FE3-2EDE-F3918138E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99072"/>
            <a:ext cx="10659110" cy="4977891"/>
          </a:xfrm>
        </p:spPr>
        <p:txBody>
          <a:bodyPr>
            <a:normAutofit/>
          </a:bodyPr>
          <a:lstStyle/>
          <a:p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(11 Models):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CNN-based: Mel, MFCC, RGB, Multi-Input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Learning: ResNet18, EfficientNetB0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(PyTorch/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CNN-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Torch/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MLP</a:t>
            </a:r>
          </a:p>
          <a:p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Torch/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MLP trained with 11 distinct feature sets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31 models</a:t>
            </a:r>
          </a:p>
          <a:p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484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A7CF90-0C8E-E424-F1BE-F4A0BB11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09660"/>
          </a:xfrm>
        </p:spPr>
        <p:txBody>
          <a:bodyPr>
            <a:normAutofit/>
          </a:bodyPr>
          <a:lstStyle/>
          <a:p>
            <a:r>
              <a:rPr lang="en-US" sz="3200" noProof="0" dirty="0"/>
              <a:t>Models Used (ML, DL, and SOTA) cont’d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1B2AC8-8572-DC1D-09E0-3F766C2C9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47314"/>
            <a:ext cx="10659110" cy="5029650"/>
          </a:xfrm>
        </p:spPr>
        <p:txBody>
          <a:bodyPr>
            <a:normAutofit/>
          </a:bodyPr>
          <a:lstStyle/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Transformers (9 Models):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: </a:t>
            </a:r>
          </a:p>
          <a:p>
            <a:pPr lvl="1"/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MLP: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-base-plus </a:t>
            </a:r>
          </a:p>
          <a:p>
            <a:pPr lvl="1"/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MLP: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-large </a:t>
            </a:r>
          </a:p>
          <a:p>
            <a:pPr lvl="1"/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MLP: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/hubert-base-ls960 </a:t>
            </a:r>
          </a:p>
          <a:p>
            <a:pPr lvl="1"/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MLP: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/hubert-large-ls960-ft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Wav2Vec2 + MLP: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/wav2vec2-large-960h-lv60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Wav2Vec2 + MLP: </a:t>
            </a:r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ehcalabres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/wav2vec2-lg-xlsr-en-speech-emotion-recognition</a:t>
            </a: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Fine-Tuned: </a:t>
            </a:r>
          </a:p>
          <a:p>
            <a:pPr lvl="1"/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-base-plus</a:t>
            </a:r>
          </a:p>
          <a:p>
            <a:pPr lvl="1"/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/hubert-base-ls960</a:t>
            </a:r>
          </a:p>
          <a:p>
            <a:pPr lvl="1"/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Wav2Vec2: </a:t>
            </a:r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/wav2vec2-base</a:t>
            </a:r>
          </a:p>
          <a:p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9 models</a:t>
            </a:r>
          </a:p>
          <a:p>
            <a:pPr marL="457200" lvl="1" indent="0">
              <a:buNone/>
            </a:pP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73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6DD406-EB3F-0DD6-8888-D076F6ED5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52792"/>
          </a:xfrm>
        </p:spPr>
        <p:txBody>
          <a:bodyPr>
            <a:normAutofit/>
          </a:bodyPr>
          <a:lstStyle/>
          <a:p>
            <a:r>
              <a:rPr lang="en-US" sz="3200" noProof="0" dirty="0"/>
              <a:t>Models Used (ML, DL, and SOTA) cont’d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CF582617-764F-2893-C3E1-321F90114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778422"/>
              </p:ext>
            </p:extLst>
          </p:nvPr>
        </p:nvGraphicFramePr>
        <p:xfrm>
          <a:off x="777240" y="1285336"/>
          <a:ext cx="10048911" cy="30516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8111">
                  <a:extLst>
                    <a:ext uri="{9D8B030D-6E8A-4147-A177-3AD203B41FA5}">
                      <a16:colId xmlns:a16="http://schemas.microsoft.com/office/drawing/2014/main" val="1532359599"/>
                    </a:ext>
                  </a:extLst>
                </a:gridCol>
                <a:gridCol w="4390189">
                  <a:extLst>
                    <a:ext uri="{9D8B030D-6E8A-4147-A177-3AD203B41FA5}">
                      <a16:colId xmlns:a16="http://schemas.microsoft.com/office/drawing/2014/main" val="10299444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608638830"/>
                    </a:ext>
                  </a:extLst>
                </a:gridCol>
              </a:tblGrid>
              <a:tr h="248174"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HuggingFace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Identifier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Dim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8214490"/>
                  </a:ext>
                </a:extLst>
              </a:tr>
              <a:tr h="343064"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-large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-large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3514431"/>
                  </a:ext>
                </a:extLst>
              </a:tr>
              <a:tr h="343064"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-base-plus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-base-plus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768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4928658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Wav2Vec2-large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/wav2vec2-large-960h-lv60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4467610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Wav2Vec2-SER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ehcalabres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/wav2vec2-lg-xlsr-en-speech-emotion-recognition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3680037"/>
                  </a:ext>
                </a:extLst>
              </a:tr>
              <a:tr h="343064"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-large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/hubert-large-ls960-ft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99634412"/>
                  </a:ext>
                </a:extLst>
              </a:tr>
              <a:tr h="343064"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/hubert-base-ls960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768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9572048"/>
                  </a:ext>
                </a:extLst>
              </a:tr>
            </a:tbl>
          </a:graphicData>
        </a:graphic>
      </p:graphicFrame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C3897FCB-7E99-BCD6-5356-E3679109B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713490"/>
              </p:ext>
            </p:extLst>
          </p:nvPr>
        </p:nvGraphicFramePr>
        <p:xfrm>
          <a:off x="777876" y="4468482"/>
          <a:ext cx="10048276" cy="17684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17113">
                  <a:extLst>
                    <a:ext uri="{9D8B030D-6E8A-4147-A177-3AD203B41FA5}">
                      <a16:colId xmlns:a16="http://schemas.microsoft.com/office/drawing/2014/main" val="2017232733"/>
                    </a:ext>
                  </a:extLst>
                </a:gridCol>
                <a:gridCol w="4398915">
                  <a:extLst>
                    <a:ext uri="{9D8B030D-6E8A-4147-A177-3AD203B41FA5}">
                      <a16:colId xmlns:a16="http://schemas.microsoft.com/office/drawing/2014/main" val="134803486"/>
                    </a:ext>
                  </a:extLst>
                </a:gridCol>
                <a:gridCol w="2032248">
                  <a:extLst>
                    <a:ext uri="{9D8B030D-6E8A-4147-A177-3AD203B41FA5}">
                      <a16:colId xmlns:a16="http://schemas.microsoft.com/office/drawing/2014/main" val="1290455987"/>
                    </a:ext>
                  </a:extLst>
                </a:gridCol>
              </a:tblGrid>
              <a:tr h="442104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HuggingFace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Identifier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Strategy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8717175"/>
                  </a:ext>
                </a:extLst>
              </a:tr>
              <a:tr h="442104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(Fine-tuned)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-base-plus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 Trainer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6696749"/>
                  </a:ext>
                </a:extLst>
              </a:tr>
              <a:tr h="442104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(Fine-tuned)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/hubert-base-ls960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HuggingFace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6736477"/>
                  </a:ext>
                </a:extLst>
              </a:tr>
              <a:tr h="442104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Wav2Vec2.0 (Fine-tuned)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/wav2vec2-base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HuggingFace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1786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523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579478-1AC3-4711-2F23-2706BA016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44166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230374-7CE4-2E82-7EE5-D50D85EDC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12808"/>
            <a:ext cx="10659110" cy="5477773"/>
          </a:xfrm>
        </p:spPr>
        <p:txBody>
          <a:bodyPr>
            <a:normAutofit/>
          </a:bodyPr>
          <a:lstStyle/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Training Summary:</a:t>
            </a:r>
          </a:p>
          <a:p>
            <a:pPr lvl="1"/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tune hyperparameters (e.g., C, gamma, depth, estimators)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Feature Sets tested across 9 Models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F1-Score (Macro), Confusion Matrix</a:t>
            </a: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7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Boruta + Autoencoder Feature Set </a:t>
            </a:r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 descr="metin, ekran görüntüsü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DD8D90F-A629-3715-94B6-B4DC87E3A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570" y="2654135"/>
            <a:ext cx="6781459" cy="315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95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E89BDD-576E-8009-0C17-39E9B49F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471636"/>
          </a:xfrm>
        </p:spPr>
        <p:txBody>
          <a:bodyPr>
            <a:normAutofit fontScale="90000"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240424-A1C1-4CD9-4D7E-187C621C8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30060"/>
            <a:ext cx="10659110" cy="5451895"/>
          </a:xfrm>
        </p:spPr>
        <p:txBody>
          <a:bodyPr>
            <a:noAutofit/>
          </a:bodyPr>
          <a:lstStyle/>
          <a:p>
            <a:r>
              <a:rPr lang="en-US" sz="13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in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Disgust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weak performance in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Neutral. 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overall ML performance</a:t>
            </a:r>
          </a:p>
          <a:p>
            <a:r>
              <a:rPr lang="en-US" sz="13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Voting Classifier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generalization due to ensemble structure; confusion present in low-arousal classes 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confused</a:t>
            </a:r>
          </a:p>
          <a:p>
            <a:r>
              <a:rPr lang="en-US" sz="13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Voting Classifier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results via model combination. Stable results through model combination; difficult to distinguish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13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effective, High performance; strong distinction of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Sadness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results through detailed hyperparameter search, Effective hyperparameter tuning; difficult to separate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BaggingClassifier</a:t>
            </a:r>
            <a:endParaRPr lang="en-US" sz="13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performance on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Sadness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Disgust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classes</a:t>
            </a:r>
          </a:p>
          <a:p>
            <a:r>
              <a:rPr lang="en-US" sz="13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balance; strong on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Sadness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weak on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Proximity-based intuitive classification; strong on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weak on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 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13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MLP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with handcrafted features; good separation of </a:t>
            </a:r>
            <a:r>
              <a:rPr lang="en-US" sz="13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Disgust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672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9CCF19-763A-F444-E52F-4B2A0D57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06143"/>
          </a:xfrm>
        </p:spPr>
        <p:txBody>
          <a:bodyPr>
            <a:normAutofit fontScale="90000"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819000-DB6C-5F80-7D6C-5D370CA4D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21434"/>
            <a:ext cx="10659110" cy="5055529"/>
          </a:xfrm>
        </p:spPr>
        <p:txBody>
          <a:bodyPr/>
          <a:lstStyle/>
          <a:p>
            <a:r>
              <a:rPr lang="en-US" noProof="0" dirty="0"/>
              <a:t>ML Models</a:t>
            </a:r>
          </a:p>
          <a:p>
            <a:endParaRPr lang="en-US" noProof="0" dirty="0"/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A7B4D2CD-866E-EFB4-BE0B-301127F78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696288"/>
              </p:ext>
            </p:extLst>
          </p:nvPr>
        </p:nvGraphicFramePr>
        <p:xfrm>
          <a:off x="999155" y="1625506"/>
          <a:ext cx="8834962" cy="4351340"/>
        </p:xfrm>
        <a:graphic>
          <a:graphicData uri="http://schemas.openxmlformats.org/drawingml/2006/table">
            <a:tbl>
              <a:tblPr/>
              <a:tblGrid>
                <a:gridCol w="1766992">
                  <a:extLst>
                    <a:ext uri="{9D8B030D-6E8A-4147-A177-3AD203B41FA5}">
                      <a16:colId xmlns:a16="http://schemas.microsoft.com/office/drawing/2014/main" val="1733162087"/>
                    </a:ext>
                  </a:extLst>
                </a:gridCol>
                <a:gridCol w="1766992">
                  <a:extLst>
                    <a:ext uri="{9D8B030D-6E8A-4147-A177-3AD203B41FA5}">
                      <a16:colId xmlns:a16="http://schemas.microsoft.com/office/drawing/2014/main" val="1713853225"/>
                    </a:ext>
                  </a:extLst>
                </a:gridCol>
                <a:gridCol w="1220681">
                  <a:extLst>
                    <a:ext uri="{9D8B030D-6E8A-4147-A177-3AD203B41FA5}">
                      <a16:colId xmlns:a16="http://schemas.microsoft.com/office/drawing/2014/main" val="1552320073"/>
                    </a:ext>
                  </a:extLst>
                </a:gridCol>
                <a:gridCol w="1431985">
                  <a:extLst>
                    <a:ext uri="{9D8B030D-6E8A-4147-A177-3AD203B41FA5}">
                      <a16:colId xmlns:a16="http://schemas.microsoft.com/office/drawing/2014/main" val="3334363050"/>
                    </a:ext>
                  </a:extLst>
                </a:gridCol>
                <a:gridCol w="2648312">
                  <a:extLst>
                    <a:ext uri="{9D8B030D-6E8A-4147-A177-3AD203B41FA5}">
                      <a16:colId xmlns:a16="http://schemas.microsoft.com/office/drawing/2014/main" val="871985259"/>
                    </a:ext>
                  </a:extLst>
                </a:gridCol>
              </a:tblGrid>
              <a:tr h="385562"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Feature Set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F1-Macro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Parameters (</a:t>
                      </a:r>
                      <a:r>
                        <a:rPr lang="en-US" sz="1300" b="1" noProof="0" dirty="0" err="1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GridSearchCV</a:t>
                      </a:r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048662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 + Autoencoder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86.43%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86.51%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C=0.1, gamma=0.1, kernel=poly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509386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80.24%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79.48%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=100, 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max_depth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=10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088534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 + Autoencoder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82.86%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82.53%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learning_rate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=0.05, 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max_depth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=5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308030"/>
                  </a:ext>
                </a:extLst>
              </a:tr>
              <a:tr h="550802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 + Autoencoder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82.14%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81.77%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n_neighbors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=3, weights=‘distance’, metric=‘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euclidean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516948"/>
                  </a:ext>
                </a:extLst>
              </a:tr>
              <a:tr h="550802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-MLP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80.24%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79.52%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hidden=(256,128), solver=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learning=adaptive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062714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83.57%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83.46%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=400, loss='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log_loss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66203"/>
                  </a:ext>
                </a:extLst>
              </a:tr>
              <a:tr h="550802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83.33%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83.23%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base_estimator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=DT(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max_depth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=5), 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=150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424487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Voting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84.29%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84.09%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majority vote from top 3 models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324002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 Voting</a:t>
                      </a:r>
                      <a:endParaRPr lang="en-US" sz="1300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84.29%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84.13%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probability-based averaging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16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672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241281-8F96-3A77-6B19-EEF882DA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566528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9DCC56-5E68-1372-C897-D9E7A4878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55940"/>
            <a:ext cx="10659110" cy="5598543"/>
          </a:xfrm>
        </p:spPr>
        <p:txBody>
          <a:bodyPr>
            <a:normAutofit/>
          </a:bodyPr>
          <a:lstStyle/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Training Summary: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Image-based CNNs trained on spectrograms or RGB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trained on advanced handcrafted features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models fine-tuned on MELD (Joey subset)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Regularization: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Dropout, Batch Normalization, Early Stopping</a:t>
            </a:r>
          </a:p>
          <a:p>
            <a:pPr lvl="1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Optimizers:</a:t>
            </a:r>
          </a:p>
          <a:p>
            <a:pPr lvl="2"/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Adam, SGD, Learning Rate Scheduling</a:t>
            </a: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US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-mel </a:t>
            </a:r>
            <a:r>
              <a:rPr lang="en-US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</a:t>
            </a:r>
            <a:r>
              <a:rPr lang="tr-TR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ogram</a:t>
            </a:r>
            <a:endParaRPr lang="en-US" sz="1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Resim 4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BBACAE-E2D1-89DF-8109-C3C8443E9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94" y="3556518"/>
            <a:ext cx="2665563" cy="270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428049-311E-79CF-3F82-E5CC501AC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566528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5D1CA25-A17D-32DF-3E84-25FBAE291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31654"/>
            <a:ext cx="10659110" cy="5650301"/>
          </a:xfrm>
        </p:spPr>
        <p:txBody>
          <a:bodyPr>
            <a:noAutofit/>
          </a:bodyPr>
          <a:lstStyle/>
          <a:p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Mel-Spectrogram CNN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on high-frequency classes; weak on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</a:t>
            </a:r>
          </a:p>
          <a:p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MFCC-CNN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short emotional bursts through MFCC representation</a:t>
            </a:r>
          </a:p>
          <a:p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RGB-CNN (MFCC + Δ + Δ²)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Time-frequency-difference representations;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Disgust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clearly separated</a:t>
            </a:r>
          </a:p>
          <a:p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Multi-Input (Mel + MFCC)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Multi-input combination; effective for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Sadness</a:t>
            </a:r>
          </a:p>
          <a:p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 + Mel Spectrogram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approach; strong separation of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Disgust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</a:p>
          <a:p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+ RGB Fusion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separation with multi-channel input; good performance on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Sadness</a:t>
            </a:r>
          </a:p>
          <a:p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(Handcrafted Features)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temporal tracking;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confused</a:t>
            </a:r>
          </a:p>
          <a:p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GRU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rhythmic patterns; better predictions for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Surprise</a:t>
            </a:r>
          </a:p>
          <a:p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 MLP (Autoencoder Features)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architecture using ML-style features; strong on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Disgust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</a:p>
          <a:p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MLP (Boruta Features)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supported with feature selection; weak on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</a:p>
          <a:p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+ </a:t>
            </a:r>
            <a:r>
              <a:rPr lang="en-US" sz="1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(Mel)</a:t>
            </a:r>
          </a:p>
          <a:p>
            <a:pPr lvl="1"/>
            <a: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structure; strong distinction of </a:t>
            </a:r>
            <a:r>
              <a:rPr lang="en-US" sz="1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Surprise</a:t>
            </a:r>
            <a:br>
              <a:rPr lang="en-US" sz="1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134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3F9ACC-7517-215B-F95A-BA32BE1E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575154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5AA4F5B-7BE3-36CD-7F02-61E5DD660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52423"/>
            <a:ext cx="10659110" cy="5124540"/>
          </a:xfrm>
        </p:spPr>
        <p:txBody>
          <a:bodyPr/>
          <a:lstStyle/>
          <a:p>
            <a:r>
              <a:rPr lang="en-US" noProof="0" dirty="0"/>
              <a:t>DL Models:</a:t>
            </a:r>
          </a:p>
          <a:p>
            <a:endParaRPr lang="en-US" noProof="0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0890F46E-D52D-4A5A-7BE0-8948F50B3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03817"/>
              </p:ext>
            </p:extLst>
          </p:nvPr>
        </p:nvGraphicFramePr>
        <p:xfrm>
          <a:off x="991850" y="1592712"/>
          <a:ext cx="8902650" cy="4664204"/>
        </p:xfrm>
        <a:graphic>
          <a:graphicData uri="http://schemas.openxmlformats.org/drawingml/2006/table">
            <a:tbl>
              <a:tblPr/>
              <a:tblGrid>
                <a:gridCol w="1780530">
                  <a:extLst>
                    <a:ext uri="{9D8B030D-6E8A-4147-A177-3AD203B41FA5}">
                      <a16:colId xmlns:a16="http://schemas.microsoft.com/office/drawing/2014/main" val="770954680"/>
                    </a:ext>
                  </a:extLst>
                </a:gridCol>
                <a:gridCol w="1780530">
                  <a:extLst>
                    <a:ext uri="{9D8B030D-6E8A-4147-A177-3AD203B41FA5}">
                      <a16:colId xmlns:a16="http://schemas.microsoft.com/office/drawing/2014/main" val="348141268"/>
                    </a:ext>
                  </a:extLst>
                </a:gridCol>
                <a:gridCol w="1780530">
                  <a:extLst>
                    <a:ext uri="{9D8B030D-6E8A-4147-A177-3AD203B41FA5}">
                      <a16:colId xmlns:a16="http://schemas.microsoft.com/office/drawing/2014/main" val="1407901377"/>
                    </a:ext>
                  </a:extLst>
                </a:gridCol>
                <a:gridCol w="1780530">
                  <a:extLst>
                    <a:ext uri="{9D8B030D-6E8A-4147-A177-3AD203B41FA5}">
                      <a16:colId xmlns:a16="http://schemas.microsoft.com/office/drawing/2014/main" val="4072488470"/>
                    </a:ext>
                  </a:extLst>
                </a:gridCol>
                <a:gridCol w="1780530">
                  <a:extLst>
                    <a:ext uri="{9D8B030D-6E8A-4147-A177-3AD203B41FA5}">
                      <a16:colId xmlns:a16="http://schemas.microsoft.com/office/drawing/2014/main" val="1063696421"/>
                    </a:ext>
                  </a:extLst>
                </a:gridCol>
              </a:tblGrid>
              <a:tr h="232071"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Type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F1-Macro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433876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(Mel Spectrogram)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 Image (128x128)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76.43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76.70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stopping, dropout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926388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(MFCC Image)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 (128x128)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71.90%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70.85%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 + Delta² not used here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337140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(RGB Fusion)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 + Δ + Δ²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76.90%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75.82%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RGB Channel Mapping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954828"/>
                  </a:ext>
                </a:extLst>
              </a:tr>
              <a:tr h="232071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(Multi-Input)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 + Mel Fusion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74.05%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72.92%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Two-branch CNN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560622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ResNet18 (Transfer)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 (224x224)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70.24%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69.20%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Pretrained on ImageNet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655335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EfficientNetB0 (RGB Fusion)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RGB Image (224x224)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78.33%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78.17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DL model (Sadness, Fear ↑)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704669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Keras</a:t>
                      </a:r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[T,120]</a:t>
                      </a:r>
                      <a:endParaRPr lang="en-US" sz="13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77.14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77.01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+ Dropout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543186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(Torch)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[T,120]</a:t>
                      </a:r>
                      <a:endParaRPr lang="en-US" sz="13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76.19%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75.42%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 implementation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72601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</a:t>
                      </a:r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US" sz="1300" b="1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 image → CNN+LSTM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77.14%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75.92%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Mixed architecture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236249"/>
                  </a:ext>
                </a:extLst>
              </a:tr>
              <a:tr h="232071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 MLP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vector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83.10%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82.88%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ML-style pipeline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719822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Keras</a:t>
                      </a:r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MLP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vector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58.10%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57.00%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Comparable to Torch MLP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75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605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B1A540-095D-721A-94A1-61312234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83781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9DE472-3541-9629-6992-12ED80CB4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47313"/>
            <a:ext cx="10659110" cy="5345562"/>
          </a:xfrm>
        </p:spPr>
        <p:txBody>
          <a:bodyPr/>
          <a:lstStyle/>
          <a:p>
            <a:r>
              <a:rPr lang="en-US" sz="17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Training Summary:</a:t>
            </a:r>
          </a:p>
          <a:p>
            <a:pPr lvl="1"/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Models (</a:t>
            </a:r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Wav2Vec2.0, </a:t>
            </a:r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used in 2 ways:</a:t>
            </a:r>
          </a:p>
          <a:p>
            <a:pPr lvl="2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+ MLP</a:t>
            </a:r>
          </a:p>
          <a:p>
            <a:pPr lvl="2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Fine-Tuning</a:t>
            </a:r>
          </a:p>
          <a:p>
            <a:pPr lvl="1"/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 used</a:t>
            </a:r>
          </a:p>
          <a:p>
            <a:pPr lvl="1"/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on raw waveform audio</a:t>
            </a:r>
          </a:p>
          <a:p>
            <a:pPr lvl="1"/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F1-Score monitored on test set</a:t>
            </a: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5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6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-base-plus</a:t>
            </a:r>
          </a:p>
        </p:txBody>
      </p:sp>
      <p:pic>
        <p:nvPicPr>
          <p:cNvPr id="5" name="Resim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9B9D8C9-CFEE-0D25-0AD6-8CB04269B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445" y="3032184"/>
            <a:ext cx="3563732" cy="293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71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280647-CF79-FCB4-1A5F-81D31FE9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06143"/>
          </a:xfrm>
        </p:spPr>
        <p:txBody>
          <a:bodyPr>
            <a:normAutofit fontScale="90000"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C5DCBC-BF20-38CE-70E4-83096E220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69675"/>
            <a:ext cx="10659110" cy="5107288"/>
          </a:xfrm>
        </p:spPr>
        <p:txBody>
          <a:bodyPr>
            <a:noAutofit/>
          </a:bodyPr>
          <a:lstStyle/>
          <a:p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(Large – + MLP)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Strong: sadness – Weak: joy and neutral</a:t>
            </a:r>
          </a:p>
          <a:p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(Base+ – MLP)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Strong: disgust, fear, sadness – Weak: joy and neutral</a:t>
            </a:r>
          </a:p>
          <a:p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 – + MLP)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representations; high performance on Fear and Disgust</a:t>
            </a:r>
          </a:p>
          <a:p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(Large – MLP)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on Disgust, weak on Joy and neutral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Wav2Vec2.0 (Large – + MLP)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Weak: joy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Wav2Vec2.0 SER (Pretrained SER)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Weak: joy, neutral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Wav2Vec2.0 (Base – Fine-tuned)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Strong: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disgust,fear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sadness</a:t>
            </a:r>
          </a:p>
          <a:p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 – Fine-tuned)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Weak: joy</a:t>
            </a:r>
          </a:p>
          <a:p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(Base+ – Fine-tuned)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Weak: joy and surprise, Strong: disgust</a:t>
            </a:r>
          </a:p>
        </p:txBody>
      </p:sp>
    </p:spTree>
    <p:extLst>
      <p:ext uri="{BB962C8B-B14F-4D97-AF65-F5344CB8AC3E}">
        <p14:creationId xmlns:p14="http://schemas.microsoft.com/office/powerpoint/2010/main" val="2100594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03CEC3-B398-4C0E-15AF-F7754EB1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575154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301568-B689-D9D7-0A76-41355C1C7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0280"/>
            <a:ext cx="10659110" cy="5236683"/>
          </a:xfrm>
        </p:spPr>
        <p:txBody>
          <a:bodyPr/>
          <a:lstStyle/>
          <a:p>
            <a:r>
              <a:rPr lang="en-US" noProof="0" dirty="0"/>
              <a:t>SOTA Models:</a:t>
            </a:r>
          </a:p>
          <a:p>
            <a:endParaRPr lang="en-US" noProof="0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ECAB1A24-96B4-42E1-1F08-1297B8024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44440"/>
              </p:ext>
            </p:extLst>
          </p:nvPr>
        </p:nvGraphicFramePr>
        <p:xfrm>
          <a:off x="993549" y="1503980"/>
          <a:ext cx="9125235" cy="4354619"/>
        </p:xfrm>
        <a:graphic>
          <a:graphicData uri="http://schemas.openxmlformats.org/drawingml/2006/table">
            <a:tbl>
              <a:tblPr/>
              <a:tblGrid>
                <a:gridCol w="1825047">
                  <a:extLst>
                    <a:ext uri="{9D8B030D-6E8A-4147-A177-3AD203B41FA5}">
                      <a16:colId xmlns:a16="http://schemas.microsoft.com/office/drawing/2014/main" val="2700371151"/>
                    </a:ext>
                  </a:extLst>
                </a:gridCol>
                <a:gridCol w="3271653">
                  <a:extLst>
                    <a:ext uri="{9D8B030D-6E8A-4147-A177-3AD203B41FA5}">
                      <a16:colId xmlns:a16="http://schemas.microsoft.com/office/drawing/2014/main" val="1483179057"/>
                    </a:ext>
                  </a:extLst>
                </a:gridCol>
                <a:gridCol w="1725283">
                  <a:extLst>
                    <a:ext uri="{9D8B030D-6E8A-4147-A177-3AD203B41FA5}">
                      <a16:colId xmlns:a16="http://schemas.microsoft.com/office/drawing/2014/main" val="3741626329"/>
                    </a:ext>
                  </a:extLst>
                </a:gridCol>
                <a:gridCol w="1121434">
                  <a:extLst>
                    <a:ext uri="{9D8B030D-6E8A-4147-A177-3AD203B41FA5}">
                      <a16:colId xmlns:a16="http://schemas.microsoft.com/office/drawing/2014/main" val="3632793133"/>
                    </a:ext>
                  </a:extLst>
                </a:gridCol>
                <a:gridCol w="1181818">
                  <a:extLst>
                    <a:ext uri="{9D8B030D-6E8A-4147-A177-3AD203B41FA5}">
                      <a16:colId xmlns:a16="http://schemas.microsoft.com/office/drawing/2014/main" val="2567850224"/>
                    </a:ext>
                  </a:extLst>
                </a:gridCol>
              </a:tblGrid>
              <a:tr h="259781"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Type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/ Name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noProof="0" dirty="0">
                          <a:highlight>
                            <a:srgbClr val="80808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F1-Macro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71053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endParaRPr lang="en-US" sz="1300" b="1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-large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 Feature + MLP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75.29%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74.66%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764861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endParaRPr lang="en-US" sz="1300" b="1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-base-plus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 Feature + MLP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80.54%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80.12%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79610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Wav2Vec2.0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/wav2vec2-large-960h-lv60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 Feature + MLP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63.10%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61.00%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10594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Wav2Vec2.0 SER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ehcalabres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/wav2vec2-lg-xlsr-en-speech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 Feature + MLP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55.11%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53.94%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608024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endParaRPr lang="en-US" sz="1300" b="1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/hubert-large-ls960-ft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 Feature + MLP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69.05%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69.12%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34663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endParaRPr lang="en-US" sz="1300" b="1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/hubert-base-ls960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 Feature + MLP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76.19%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76.03%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662437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endParaRPr lang="en-US" sz="1300" b="1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/hubert-base-ls960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Fine-tune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66.43%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66.20%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197488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endParaRPr lang="en-US" sz="1300" b="1" i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300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-base-plus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Fine-tune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54.52%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54.01%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44818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US" sz="1300" b="1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Wav2Vec2.0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kern="1200" noProof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300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/wav2vec2-base</a:t>
                      </a:r>
                      <a:endParaRPr lang="en-US" sz="13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Fine-tune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77.86%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77.60%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983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340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B0054E-6C2F-116C-F7EE-23E7BECF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83781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3305CD-B564-8FFF-DD0A-4FF3A5A30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595887"/>
            <a:ext cx="10135175" cy="45810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Prediction Pipeline (Classical Machine Learning)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models: 9 algorithms × 11 feature sets = 99 configurations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Advanced handcrafted features (MFCCs, pitch, spectral, ZCR, jitter, shimmer, wavelet, formants, TEO,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GeMAPS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Boruta, RFE, Autoencoder, RF Importance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loading: .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for model, scaler, and label encoder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 Each test file was transformed and passed to the model; soft voting averaged probabilities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CSV outputs, confusion matrices, and classification reports generated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set: 264 utterances</a:t>
            </a:r>
            <a:b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Prediction CSVs + Confusion Matrices + Class-wise F1-scores</a:t>
            </a:r>
          </a:p>
          <a:p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3877307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292C09-F1D9-8471-2D91-E9A59AD8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83781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DC830C-6961-D565-9F67-EB50F29EA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52423"/>
            <a:ext cx="10659110" cy="53656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Prediction Results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accuracy: SVM – 98.11%, F1-macro: 98.67%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strong models: Soft Voting (94.32%), Gradient Boosting (93.56%),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(93.94%)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features: Boruta and Boruta + Autoencoder yielded highest performance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Class-wise Highlights: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 predicted: Fear, Disgust, Sadness, Anger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classes: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Joy: Often confused with neutral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Neutral: Misclassified in RF, KNN (recall as low as 71%)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SVM: Near-perfect, only one error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&amp; KNN: Struggled with neutral → misclassified as joy/sadness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Voting: Most balanced; F1 &gt; 0.88 for all classes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Boruta + AE combinations improved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0471124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FB7290-E686-DB39-0491-492416E2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49275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6F8938A-2EAE-704B-D17A-78B0B9FE1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55940"/>
            <a:ext cx="10659110" cy="5021023"/>
          </a:xfrm>
        </p:spPr>
        <p:txBody>
          <a:bodyPr/>
          <a:lstStyle/>
          <a:p>
            <a:r>
              <a:rPr lang="en-US" noProof="0" dirty="0"/>
              <a:t>ML Predict Results</a:t>
            </a:r>
          </a:p>
          <a:p>
            <a:endParaRPr lang="en-US" noProof="0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29C35C40-719B-659D-F70A-7BF697AA0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655181"/>
              </p:ext>
            </p:extLst>
          </p:nvPr>
        </p:nvGraphicFramePr>
        <p:xfrm>
          <a:off x="853848" y="1637045"/>
          <a:ext cx="5866131" cy="3707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6967">
                  <a:extLst>
                    <a:ext uri="{9D8B030D-6E8A-4147-A177-3AD203B41FA5}">
                      <a16:colId xmlns:a16="http://schemas.microsoft.com/office/drawing/2014/main" val="495782341"/>
                    </a:ext>
                  </a:extLst>
                </a:gridCol>
                <a:gridCol w="1645751">
                  <a:extLst>
                    <a:ext uri="{9D8B030D-6E8A-4147-A177-3AD203B41FA5}">
                      <a16:colId xmlns:a16="http://schemas.microsoft.com/office/drawing/2014/main" val="2741299146"/>
                    </a:ext>
                  </a:extLst>
                </a:gridCol>
                <a:gridCol w="1200551">
                  <a:extLst>
                    <a:ext uri="{9D8B030D-6E8A-4147-A177-3AD203B41FA5}">
                      <a16:colId xmlns:a16="http://schemas.microsoft.com/office/drawing/2014/main" val="3403845845"/>
                    </a:ext>
                  </a:extLst>
                </a:gridCol>
                <a:gridCol w="1162862">
                  <a:extLst>
                    <a:ext uri="{9D8B030D-6E8A-4147-A177-3AD203B41FA5}">
                      <a16:colId xmlns:a16="http://schemas.microsoft.com/office/drawing/2014/main" val="4197423220"/>
                    </a:ext>
                  </a:extLst>
                </a:gridCol>
              </a:tblGrid>
              <a:tr h="573189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Set Used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F1-macro (%)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80087366"/>
                  </a:ext>
                </a:extLst>
              </a:tr>
              <a:tr h="573189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 + Autoencoder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98.11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98.67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1074797"/>
                  </a:ext>
                </a:extLst>
              </a:tr>
              <a:tr h="282073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87.12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85.22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2301288"/>
                  </a:ext>
                </a:extLst>
              </a:tr>
              <a:tr h="282073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93.94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92.78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9613425"/>
                  </a:ext>
                </a:extLst>
              </a:tr>
              <a:tr h="282073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Neighbors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 ∩ RF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83.71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78.31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9866824"/>
                  </a:ext>
                </a:extLst>
              </a:tr>
              <a:tr h="282073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(</a:t>
                      </a:r>
                      <a:r>
                        <a:rPr lang="en-US" sz="13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87.88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85.06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4335295"/>
                  </a:ext>
                </a:extLst>
              </a:tr>
              <a:tr h="282073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93.56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95.81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195839"/>
                  </a:ext>
                </a:extLst>
              </a:tr>
              <a:tr h="573189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 Classifier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 + Autoencoder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91.29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87.45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4474811"/>
                  </a:ext>
                </a:extLst>
              </a:tr>
              <a:tr h="282073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Voting Classifier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87.88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85.96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2033"/>
                  </a:ext>
                </a:extLst>
              </a:tr>
              <a:tr h="282073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 Voting Classifier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94.32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3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94.84</a:t>
                      </a:r>
                      <a:endParaRPr lang="en-US" sz="13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08662641"/>
                  </a:ext>
                </a:extLst>
              </a:tr>
            </a:tbl>
          </a:graphicData>
        </a:graphic>
      </p:graphicFrame>
      <p:pic>
        <p:nvPicPr>
          <p:cNvPr id="6" name="Resim 5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81E5178-6FB8-1C0A-7E99-165239E6D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154" y="1637044"/>
            <a:ext cx="4481606" cy="370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20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9630BC-BAF4-85B0-5E27-E15DDBAF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18286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3ED312-0BF5-FC14-59BA-3BF5A36BF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233578"/>
            <a:ext cx="10659110" cy="494338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Prediction Pipeline (Deep Learning)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models: 11 DL models (CNNs,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CNN-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MLPs)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formats: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CNNs: Spectrogram or MFCC images (128×128 or 224×224)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Sequential MFCCs + delta + delta² (padded to fixed length)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MLPs: Handcrafted features + selection (Boruta/Autoencoder)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loading: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.h5 or PyTorch .pt models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label_encoder.pkl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all predictions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process: Model-specific preprocessing → scaling → reshaping → inference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Predictions saved as CSVs; confusion matrices and reports visualized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set: 264 utterances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Prediction CSVs + Confusion Matrices + Metrics</a:t>
            </a:r>
          </a:p>
          <a:p>
            <a:pPr>
              <a:lnSpc>
                <a:spcPct val="150000"/>
              </a:lnSpc>
            </a:pPr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2100000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AB8520-7F71-A2A6-5870-6978DC8C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635539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869952E-E46D-4973-50AE-5582EB161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12808"/>
            <a:ext cx="10659110" cy="50641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Prediction Results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accuracy: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91.29%, F1-macro: 92.45%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strong models: CNN (Mel) – 89.02%,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-MLP – 85.98%,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CNN+BiLSTM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77.65%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Weakest models: CNN-RGB (65.91%), CNN Multi-Input (62.12%)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Class-wise Highlights: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predicted: Fear, Disgust, Sadness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Struggled classes: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Joy: Misclassified as Neutral or Surprise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Neutral: High recall but low precision in RGB-based models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CNN-RGB &amp; Multi-Input: High confusion between Joy–Neutral, Surprise–Joy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 sequential inputs (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MLP) outperformed image-based models</a:t>
            </a:r>
          </a:p>
        </p:txBody>
      </p:sp>
    </p:spTree>
    <p:extLst>
      <p:ext uri="{BB962C8B-B14F-4D97-AF65-F5344CB8AC3E}">
        <p14:creationId xmlns:p14="http://schemas.microsoft.com/office/powerpoint/2010/main" val="1409005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62D67D-950A-4AA2-6198-80C52D492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523396"/>
          </a:xfrm>
        </p:spPr>
        <p:txBody>
          <a:bodyPr>
            <a:normAutofit fontScale="90000"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896360-F38F-E964-C7A9-2FD385CC8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86928"/>
            <a:ext cx="11245952" cy="5090035"/>
          </a:xfrm>
        </p:spPr>
        <p:txBody>
          <a:bodyPr/>
          <a:lstStyle/>
          <a:p>
            <a:r>
              <a:rPr lang="en-US" noProof="0" dirty="0"/>
              <a:t>DL Predict Results</a:t>
            </a:r>
          </a:p>
          <a:p>
            <a:endParaRPr lang="en-US" noProof="0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8C379F9D-DF71-7DC2-F35C-ADB76F118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482445"/>
              </p:ext>
            </p:extLst>
          </p:nvPr>
        </p:nvGraphicFramePr>
        <p:xfrm>
          <a:off x="905804" y="1450080"/>
          <a:ext cx="7142643" cy="47268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9343">
                  <a:extLst>
                    <a:ext uri="{9D8B030D-6E8A-4147-A177-3AD203B41FA5}">
                      <a16:colId xmlns:a16="http://schemas.microsoft.com/office/drawing/2014/main" val="925005293"/>
                    </a:ext>
                  </a:extLst>
                </a:gridCol>
                <a:gridCol w="1453023">
                  <a:extLst>
                    <a:ext uri="{9D8B030D-6E8A-4147-A177-3AD203B41FA5}">
                      <a16:colId xmlns:a16="http://schemas.microsoft.com/office/drawing/2014/main" val="3025249206"/>
                    </a:ext>
                  </a:extLst>
                </a:gridCol>
                <a:gridCol w="2363339">
                  <a:extLst>
                    <a:ext uri="{9D8B030D-6E8A-4147-A177-3AD203B41FA5}">
                      <a16:colId xmlns:a16="http://schemas.microsoft.com/office/drawing/2014/main" val="166756979"/>
                    </a:ext>
                  </a:extLst>
                </a:gridCol>
                <a:gridCol w="1644718">
                  <a:extLst>
                    <a:ext uri="{9D8B030D-6E8A-4147-A177-3AD203B41FA5}">
                      <a16:colId xmlns:a16="http://schemas.microsoft.com/office/drawing/2014/main" val="2215304222"/>
                    </a:ext>
                  </a:extLst>
                </a:gridCol>
                <a:gridCol w="1012220">
                  <a:extLst>
                    <a:ext uri="{9D8B030D-6E8A-4147-A177-3AD203B41FA5}">
                      <a16:colId xmlns:a16="http://schemas.microsoft.com/office/drawing/2014/main" val="3159391350"/>
                    </a:ext>
                  </a:extLst>
                </a:gridCol>
              </a:tblGrid>
              <a:tr h="1642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Type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F1-Macro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1990262494"/>
                  </a:ext>
                </a:extLst>
              </a:tr>
              <a:tr h="5256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(Mel)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 Spectrogram (128×128)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89.02%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89.20%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1512822766"/>
                  </a:ext>
                </a:extLst>
              </a:tr>
              <a:tr h="5256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(MFCC)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 Spectrogram (128×128)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87.12%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84.06%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186924047"/>
                  </a:ext>
                </a:extLst>
              </a:tr>
              <a:tr h="3449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(RGB Fusion)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RGB Fusion (128×128)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65.91%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61.13%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1406567570"/>
                  </a:ext>
                </a:extLst>
              </a:tr>
              <a:tr h="3449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(Multi-Input)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 + Mel Dual Input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62.12%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55.79%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2728246430"/>
                  </a:ext>
                </a:extLst>
              </a:tr>
              <a:tr h="5256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ResNet18 (Mel)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 Spectrogram (224×224)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75.00%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74.50%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3650239000"/>
                  </a:ext>
                </a:extLst>
              </a:tr>
              <a:tr h="3449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EfficientNetB0 (RGB)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RGB Fusion (224×224)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79.17%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77.72%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1132916890"/>
                  </a:ext>
                </a:extLst>
              </a:tr>
              <a:tr h="3449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Acoustic Features (1D)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91.29%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92.45%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4229512238"/>
                  </a:ext>
                </a:extLst>
              </a:tr>
              <a:tr h="3449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Keras-BiLSTM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Acoustic Features (1D)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71.97%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68.92%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3470758375"/>
                  </a:ext>
                </a:extLst>
              </a:tr>
              <a:tr h="3449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Torch-MLP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tr-TR" sz="1000" noProof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Handcrafted</a:t>
                      </a:r>
                      <a:r>
                        <a:rPr lang="tr-TR" sz="1000" noProof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1000" noProof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78.41%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76.21%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1715103303"/>
                  </a:ext>
                </a:extLst>
              </a:tr>
              <a:tr h="3449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Keras</a:t>
                      </a: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-MLP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tr-TR" sz="1000" noProof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Handcrafted</a:t>
                      </a: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Features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85.98%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85.48%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25846092"/>
                  </a:ext>
                </a:extLst>
              </a:tr>
              <a:tr h="5256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</a:t>
                      </a:r>
                      <a:r>
                        <a:rPr lang="en-US" sz="10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 Spectrogram (128×128)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77.65%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75.22%</a:t>
                      </a:r>
                      <a:endParaRPr lang="en-US" sz="10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4" marR="4284" marT="4284" marB="4284" anchor="ctr"/>
                </a:tc>
                <a:extLst>
                  <a:ext uri="{0D108BD9-81ED-4DB2-BD59-A6C34878D82A}">
                    <a16:rowId xmlns:a16="http://schemas.microsoft.com/office/drawing/2014/main" val="2074899597"/>
                  </a:ext>
                </a:extLst>
              </a:tr>
            </a:tbl>
          </a:graphicData>
        </a:graphic>
      </p:graphicFrame>
      <p:pic>
        <p:nvPicPr>
          <p:cNvPr id="6" name="Resim 5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1A33A39-71FE-D9AF-8939-F600BABD7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885" y="1450080"/>
            <a:ext cx="3882307" cy="472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47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DBD30E-9BFD-BCC2-4A4F-56918926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14769"/>
          </a:xfrm>
        </p:spPr>
        <p:txBody>
          <a:bodyPr>
            <a:normAutofit fontScale="90000"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0B9C48D-C041-4788-6623-EBBD26EE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83743"/>
            <a:ext cx="10659110" cy="4693220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Prediction Pipeline (Transformer-Based Models)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models: 9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with frozen embeddings + MLP classifier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fine-tuned end-to-end transformers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Raw .wav (16kHz) processed with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Torchaudio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models: Extracted embeddings using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AutoModel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passed to trained MLP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models: End-to-end classification using Wav2Vec2,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loading: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from_pretrained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+ .eval() + .to(device)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 Logits → softmax → predicted label (argmax)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Results saved as CSVs; confusion matrices and reports computed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set: 264 utterances</a:t>
            </a:r>
            <a:b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CSVs + Confusion Matrices + F1-scores</a:t>
            </a:r>
          </a:p>
          <a:p>
            <a:pPr>
              <a:lnSpc>
                <a:spcPct val="150000"/>
              </a:lnSpc>
            </a:pPr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2323562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91A5724-EF50-2BD7-B35B-A7003BFB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57901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1D0069E-FF60-3A46-6433-D8F0FF55A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23026"/>
            <a:ext cx="10659110" cy="52539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Prediction Results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 Wav2Vec2.0 (fine-tuned) – Accuracy: 84.09%, F1-macro: 79.73%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top models: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(Large + MLP),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(Large + MLP),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(Fine-tuned)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performers: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(Fine-tuned) – F1-macro: 49.53%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Class-wise Highlights: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Strongest emotions: Disgust, Fear, Sadness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Neutral: Precision high in MLP-based models, recall lower in some fine-tuned ones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Weakest: Joy and Surprise – often confused with Neutral or each other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Fine-tuned: Strong predictions for Sadness, Surprise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Fine-tuned: Confused Joy and Fear with Neutral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improves performance, especially for nuanced emotions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classes (e.g., Disgust, Fear) were predicted well by robust models</a:t>
            </a:r>
          </a:p>
          <a:p>
            <a:pPr>
              <a:lnSpc>
                <a:spcPct val="15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159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2F6027-E980-6BDF-DD12-C5163B1C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480264"/>
          </a:xfrm>
        </p:spPr>
        <p:txBody>
          <a:bodyPr>
            <a:normAutofit fontScale="90000"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Experimental Results </a:t>
            </a:r>
            <a:r>
              <a:rPr lang="en-US" sz="3200" noProof="0" dirty="0"/>
              <a:t>cont’d</a:t>
            </a:r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EE0D7C-C808-A311-D30D-B1FB324A9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39" y="1190445"/>
            <a:ext cx="11092707" cy="4986518"/>
          </a:xfrm>
        </p:spPr>
        <p:txBody>
          <a:bodyPr/>
          <a:lstStyle/>
          <a:p>
            <a:r>
              <a:rPr lang="en-US" noProof="0" dirty="0"/>
              <a:t>SOTA Predict Results</a:t>
            </a:r>
          </a:p>
          <a:p>
            <a:endParaRPr lang="en-US" noProof="0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EF3B3ED4-6677-1983-1195-4FCBED1B5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628820"/>
              </p:ext>
            </p:extLst>
          </p:nvPr>
        </p:nvGraphicFramePr>
        <p:xfrm>
          <a:off x="860573" y="1648409"/>
          <a:ext cx="6195834" cy="40705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4491">
                  <a:extLst>
                    <a:ext uri="{9D8B030D-6E8A-4147-A177-3AD203B41FA5}">
                      <a16:colId xmlns:a16="http://schemas.microsoft.com/office/drawing/2014/main" val="2058266830"/>
                    </a:ext>
                  </a:extLst>
                </a:gridCol>
                <a:gridCol w="3243081">
                  <a:extLst>
                    <a:ext uri="{9D8B030D-6E8A-4147-A177-3AD203B41FA5}">
                      <a16:colId xmlns:a16="http://schemas.microsoft.com/office/drawing/2014/main" val="4124111987"/>
                    </a:ext>
                  </a:extLst>
                </a:gridCol>
                <a:gridCol w="979575">
                  <a:extLst>
                    <a:ext uri="{9D8B030D-6E8A-4147-A177-3AD203B41FA5}">
                      <a16:colId xmlns:a16="http://schemas.microsoft.com/office/drawing/2014/main" val="4051303633"/>
                    </a:ext>
                  </a:extLst>
                </a:gridCol>
                <a:gridCol w="1138687">
                  <a:extLst>
                    <a:ext uri="{9D8B030D-6E8A-4147-A177-3AD203B41FA5}">
                      <a16:colId xmlns:a16="http://schemas.microsoft.com/office/drawing/2014/main" val="3874539001"/>
                    </a:ext>
                  </a:extLst>
                </a:gridCol>
              </a:tblGrid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F1-macro (%)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37513302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(Large) + MLP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82.95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79.11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9398726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(Base+) + MLP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76.89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72.58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3175375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Wav2Vec2.0 (</a:t>
                      </a:r>
                      <a:r>
                        <a:rPr lang="en-US" sz="12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</a:t>
                      </a: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/960h) + MLP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70.45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66.64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5097395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Wav2Vec2.0 (</a:t>
                      </a:r>
                      <a:r>
                        <a:rPr lang="en-US" sz="12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ehcalabres</a:t>
                      </a: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+ MLP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65.15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63.36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31359547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(Large) + MLP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77.27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74.18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3920413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(Base) + MLP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76.14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73.49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6991940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HuBERT</a:t>
                      </a: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(Fine-tuned, PyTorch)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77.65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79.45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37341209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(Fine-tuned, PyTorch)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63.64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49.53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5994824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Wav2Vec2.0 (Fine-tuned, PyTorch)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84.09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600"/>
                        </a:spcAft>
                        <a:buNone/>
                      </a:pPr>
                      <a:r>
                        <a:rPr lang="en-US" sz="12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79.73</a:t>
                      </a:r>
                      <a:endParaRPr lang="en-US" sz="12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566960"/>
                  </a:ext>
                </a:extLst>
              </a:tr>
            </a:tbl>
          </a:graphicData>
        </a:graphic>
      </p:graphicFrame>
      <p:pic>
        <p:nvPicPr>
          <p:cNvPr id="6" name="Resim 5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986116E-F454-A43B-3D90-3EC42D9D9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346" y="1648409"/>
            <a:ext cx="4315427" cy="407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593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1938A8-63E4-2C1E-5591-06B19665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18286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 (Real-time Deployment)</a:t>
            </a:r>
            <a:endParaRPr lang="en-US" sz="3200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7E8149-5D21-279A-A68F-771EA664B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233577"/>
            <a:ext cx="10659110" cy="494338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user-friendly PyQt5-based GUI was developed for real-world deployment.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load audio files and run emotion recognition using trained ML, DL, or SOTA models.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Dropdown menus for selecting model type and feature set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selector for uploading .wav audio files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Buttons for prediction and exporting results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performs: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loading based on user selection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predictions with emotion output and confidence scores.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easy extension, with modular backend scripts for each model type.</a:t>
            </a:r>
          </a:p>
          <a:p>
            <a:pPr>
              <a:lnSpc>
                <a:spcPct val="150000"/>
              </a:lnSpc>
            </a:pPr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2981442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C3D690-2514-8542-58EB-C1B93CFF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92407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 (Real-time Deployment) </a:t>
            </a:r>
            <a:r>
              <a:rPr lang="en-US" sz="3200" noProof="0" dirty="0"/>
              <a:t>cont’d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B17C9A71-2C98-5364-E462-514E2290D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21434"/>
            <a:ext cx="4968026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DF8BEF38-4209-B794-0532-6BC300039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688" y="1121434"/>
            <a:ext cx="4968026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22166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B69DBD-90D2-2B3A-BDF5-3D18DCFE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626913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 (Real-time Deployment) </a:t>
            </a:r>
            <a:r>
              <a:rPr lang="en-US" sz="3200" noProof="0" dirty="0"/>
              <a:t>cont’d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9EF5EFA8-C096-6324-E3C1-20CCDFD32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68" y="1413714"/>
            <a:ext cx="5003321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ED7C57A-4479-6336-01A1-35409C262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794" y="1413713"/>
            <a:ext cx="5003321" cy="435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2560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25ECF6-AD66-886D-9EEC-89D9183B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 (Real-time Deployment) </a:t>
            </a:r>
            <a:r>
              <a:rPr lang="en-US" sz="3200" noProof="0" dirty="0"/>
              <a:t>cont’d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B0A084A-5D6D-8E9A-7C08-FEBA87F1F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894" y="1435100"/>
            <a:ext cx="4923938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8D943FD9-68E7-3278-7C9E-C851E1294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650" y="1435100"/>
            <a:ext cx="4923938" cy="435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64302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66A73A-2636-F597-49DC-026085C0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09660"/>
          </a:xfrm>
        </p:spPr>
        <p:txBody>
          <a:bodyPr>
            <a:normAutofit/>
          </a:bodyPr>
          <a:lstStyle/>
          <a:p>
            <a:r>
              <a:rPr 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 (Real-time Deployment) </a:t>
            </a:r>
            <a:r>
              <a:rPr lang="en-US" sz="3200" noProof="0" dirty="0"/>
              <a:t>cont’d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BC87742C-ED86-782F-638F-9B478D52C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72" y="1349375"/>
            <a:ext cx="5343230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756D8C26-D0B5-0D31-12A2-38FE9CFE0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25" y="1349375"/>
            <a:ext cx="4987925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03409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1A9AA7-E46B-934B-D1AF-C1B06C6C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14769"/>
          </a:xfrm>
        </p:spPr>
        <p:txBody>
          <a:bodyPr>
            <a:normAutofit fontScale="90000"/>
          </a:bodyPr>
          <a:lstStyle/>
          <a:p>
            <a:r>
              <a:rPr lang="en-US" sz="3200" noProof="0" dirty="0"/>
              <a:t>Tools, Libraries, and IDEs Used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F978363-31F4-BC47-2F03-DDFCD7EC4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12808"/>
            <a:ext cx="4622896" cy="5064155"/>
          </a:xfrm>
        </p:spPr>
        <p:txBody>
          <a:bodyPr>
            <a:noAutofit/>
          </a:bodyPr>
          <a:lstStyle/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3.9+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Libraries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NumPy, Pandas – data handling</a:t>
            </a:r>
          </a:p>
          <a:p>
            <a:pPr lvl="1"/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SoundFile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audio processing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ML models, feature selection</a:t>
            </a:r>
          </a:p>
          <a:p>
            <a:pPr lvl="1"/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model saving/loading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 – visualization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&amp; Deep Learning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classical ML algorithms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MLP,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 – CNNs,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MLP, hybrid models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 / Transformers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 – Wav2Vec2,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Torchaudio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audio loading &amp; processing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Datasets &amp; Tokenizers</a:t>
            </a:r>
          </a:p>
          <a:p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27BD5841-7BDA-B618-8DC7-8A6771EFD232}"/>
              </a:ext>
            </a:extLst>
          </p:cNvPr>
          <p:cNvSpPr txBox="1">
            <a:spLocks/>
          </p:cNvSpPr>
          <p:nvPr/>
        </p:nvSpPr>
        <p:spPr>
          <a:xfrm>
            <a:off x="5493013" y="1112808"/>
            <a:ext cx="4622896" cy="5064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&amp; Transcription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</a:t>
            </a:r>
            <a:r>
              <a:rPr lang="tr-TR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speech transcription</a:t>
            </a:r>
          </a:p>
          <a:p>
            <a:pPr lvl="1"/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-Audio – speaker diarization</a:t>
            </a:r>
          </a:p>
          <a:p>
            <a:pPr lvl="1"/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ffmpeg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-python – audio extraction from video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Development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PyQt5 – graphical interface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/ Glob / Sys – file and path handling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IDEs and Development Platforms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lvl="2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transkript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diarization</a:t>
            </a:r>
          </a:p>
          <a:p>
            <a:pPr lvl="2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SOTA models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– all operations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Spyder –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</a:t>
            </a:r>
          </a:p>
          <a:p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282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C697AD-38D1-E6CF-D31B-7802F0FB6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652792"/>
          </a:xfrm>
        </p:spPr>
        <p:txBody>
          <a:bodyPr>
            <a:normAutofit/>
          </a:bodyPr>
          <a:lstStyle/>
          <a:p>
            <a:r>
              <a:rPr lang="en-US" sz="3200" noProof="0" dirty="0"/>
              <a:t>Conclusion and Future Work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EC62BF5-5DCC-1A90-CF1E-EF1FFD7A6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95555"/>
            <a:ext cx="4743666" cy="50814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 speech emotion recognition (SER) system was developed using the MELD dataset (Joey subset).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ML, DL, and SOTA transformer models, with extensive preprocessing, feature engineering, and data balancing.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overall results: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(98.11% accuracy, ML)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(92.45% F1, DL)</a:t>
            </a:r>
          </a:p>
          <a:p>
            <a:pPr lvl="2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Wav2Vec2.0 (84.09% accuracy, SOTA)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 enabled real-time emotion prediction from audio files using any trained model.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demonstrated strong performance on high-arousal emotions (fear, disgust, sadness), but difficulty in classifying joy and neutral.</a:t>
            </a:r>
          </a:p>
          <a:p>
            <a:pPr>
              <a:lnSpc>
                <a:spcPct val="150000"/>
              </a:lnSpc>
            </a:pPr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C76D9B5E-0937-F177-F6BC-126BAFD8E183}"/>
              </a:ext>
            </a:extLst>
          </p:cNvPr>
          <p:cNvSpPr txBox="1">
            <a:spLocks/>
          </p:cNvSpPr>
          <p:nvPr/>
        </p:nvSpPr>
        <p:spPr>
          <a:xfrm>
            <a:off x="6095999" y="1095555"/>
            <a:ext cx="4859547" cy="5081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multimodal emotion recognition using audio + text + visual inputs.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dataset beyond a single speaker (Joey) to improve generalizability.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as a web application or mobile app for real-world use.</a:t>
            </a:r>
          </a:p>
          <a:p>
            <a:pPr lvl="1">
              <a:lnSpc>
                <a:spcPct val="150000"/>
              </a:lnSpc>
            </a:pP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newer SSL models (e.g., SeamlessM4T, SpeechT5) for further performance gains.</a:t>
            </a:r>
          </a:p>
        </p:txBody>
      </p:sp>
    </p:spTree>
    <p:extLst>
      <p:ext uri="{BB962C8B-B14F-4D97-AF65-F5344CB8AC3E}">
        <p14:creationId xmlns:p14="http://schemas.microsoft.com/office/powerpoint/2010/main" val="226074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63A6C6-A981-144B-700C-DD2FAC54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6"/>
            <a:ext cx="10659110" cy="566528"/>
          </a:xfrm>
        </p:spPr>
        <p:txBody>
          <a:bodyPr>
            <a:normAutofit/>
          </a:bodyPr>
          <a:lstStyle/>
          <a:p>
            <a:r>
              <a:rPr lang="en-US" sz="3200" noProof="0" dirty="0"/>
              <a:t>Acknowledgements &amp; Q/A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4E2461-1C40-4763-F3D3-6034AD684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55940"/>
            <a:ext cx="10549243" cy="5021023"/>
          </a:xfrm>
        </p:spPr>
        <p:txBody>
          <a:bodyPr>
            <a:normAutofit/>
          </a:bodyPr>
          <a:lstStyle/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like to express my gratitude to my advisor, Dr. Özlem ÖZTÜRK, for her availability and encouragement during the project.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thanks to the open-source community and developers of key tools like:</a:t>
            </a:r>
          </a:p>
          <a:p>
            <a:pPr lvl="1"/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Whisper, </a:t>
            </a:r>
            <a:r>
              <a:rPr lang="en-US" sz="13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</a:t>
            </a:r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Hugging Face Transformers, and others</a:t>
            </a:r>
          </a:p>
          <a:p>
            <a:r>
              <a:rPr lang="en-US" sz="13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grateful for the authors of online tutorials, blogs, and academic resources that helped deepen my understanding of Speech Emotion Recognition (SER).</a:t>
            </a:r>
          </a:p>
          <a:p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0" lvl="8" indent="0">
              <a:buNone/>
            </a:pPr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  <a:p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69555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AnalogousFromDarkSeedLeftStep">
      <a:dk1>
        <a:srgbClr val="000000"/>
      </a:dk1>
      <a:lt1>
        <a:srgbClr val="FFFFFF"/>
      </a:lt1>
      <a:dk2>
        <a:srgbClr val="1A212E"/>
      </a:dk2>
      <a:lt2>
        <a:srgbClr val="F2F3F0"/>
      </a:lt2>
      <a:accent1>
        <a:srgbClr val="864DC3"/>
      </a:accent1>
      <a:accent2>
        <a:srgbClr val="483FB3"/>
      </a:accent2>
      <a:accent3>
        <a:srgbClr val="4D76C3"/>
      </a:accent3>
      <a:accent4>
        <a:srgbClr val="3B95B1"/>
      </a:accent4>
      <a:accent5>
        <a:srgbClr val="4BBFAB"/>
      </a:accent5>
      <a:accent6>
        <a:srgbClr val="3BB16B"/>
      </a:accent6>
      <a:hlink>
        <a:srgbClr val="339A99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4342</Words>
  <Application>Microsoft Office PowerPoint</Application>
  <PresentationFormat>Geniş ekran</PresentationFormat>
  <Paragraphs>855</Paragraphs>
  <Slides>45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45</vt:i4>
      </vt:variant>
    </vt:vector>
  </HeadingPairs>
  <TitlesOfParts>
    <vt:vector size="50" baseType="lpstr">
      <vt:lpstr>Arial</vt:lpstr>
      <vt:lpstr>Calibri</vt:lpstr>
      <vt:lpstr>Gill Sans Nova</vt:lpstr>
      <vt:lpstr>Times New Roman</vt:lpstr>
      <vt:lpstr>ConfettiVTI</vt:lpstr>
      <vt:lpstr>EMOTION DETECTION FROM TV SERIES AUDIO CLIPS</vt:lpstr>
      <vt:lpstr>OUTLINE</vt:lpstr>
      <vt:lpstr>Problem Statement and Objectives</vt:lpstr>
      <vt:lpstr>Problem Statement and Objectives cont’d</vt:lpstr>
      <vt:lpstr>Problem Statement and Objectives cont’d</vt:lpstr>
      <vt:lpstr>Dataset Overview (MELD)</vt:lpstr>
      <vt:lpstr>Dataset Cleaning &amp; Filtering</vt:lpstr>
      <vt:lpstr>Whisper Transcription + PyAnnote Diarization</vt:lpstr>
      <vt:lpstr>Audio Preprocessing</vt:lpstr>
      <vt:lpstr>Data Augmentation</vt:lpstr>
      <vt:lpstr>Feature Extraction</vt:lpstr>
      <vt:lpstr>Feature Extraction cont’d </vt:lpstr>
      <vt:lpstr>Feature Extraction cont’d </vt:lpstr>
      <vt:lpstr>Feature Selection &amp; Dimensionality Reduction</vt:lpstr>
      <vt:lpstr>Undersampling</vt:lpstr>
      <vt:lpstr>Models Used (ML, DL, and SOTA)</vt:lpstr>
      <vt:lpstr>Models Used (ML, DL, and SOTA) cont’d</vt:lpstr>
      <vt:lpstr>Models Used (ML, DL, and SOTA) cont’d</vt:lpstr>
      <vt:lpstr>Models Used (ML, DL, and SOTA) cont’d</vt:lpstr>
      <vt:lpstr>Model Training and Evaluation</vt:lpstr>
      <vt:lpstr>Model Training and Evaluation cont’d </vt:lpstr>
      <vt:lpstr>Model Training and Evaluation cont’d </vt:lpstr>
      <vt:lpstr>Model Training and Evaluation cont’d </vt:lpstr>
      <vt:lpstr>Model Training and Evaluation cont’d </vt:lpstr>
      <vt:lpstr>Model Training and Evaluation cont’d </vt:lpstr>
      <vt:lpstr>Model Training and Evaluation cont’d </vt:lpstr>
      <vt:lpstr>Model Training and Evaluation cont’d </vt:lpstr>
      <vt:lpstr>Model Training and Evaluation cont’d </vt:lpstr>
      <vt:lpstr>Prediction and Experimental Results</vt:lpstr>
      <vt:lpstr>Prediction and Experimental Results cont’d </vt:lpstr>
      <vt:lpstr>Prediction and Experimental Results cont’d </vt:lpstr>
      <vt:lpstr>Prediction and Experimental Results cont’d </vt:lpstr>
      <vt:lpstr>Prediction and Experimental Results cont’d </vt:lpstr>
      <vt:lpstr>Prediction and Experimental Results cont’d </vt:lpstr>
      <vt:lpstr>Prediction and Experimental Results cont’d </vt:lpstr>
      <vt:lpstr>Prediction and Experimental Results cont’d </vt:lpstr>
      <vt:lpstr>Prediction and Experimental Results cont’d </vt:lpstr>
      <vt:lpstr>GUI Interface (Real-time Deployment)</vt:lpstr>
      <vt:lpstr>GUI Interface (Real-time Deployment) cont’d</vt:lpstr>
      <vt:lpstr>GUI Interface (Real-time Deployment) cont’d</vt:lpstr>
      <vt:lpstr>GUI Interface (Real-time Deployment) cont’d</vt:lpstr>
      <vt:lpstr>GUI Interface (Real-time Deployment) cont’d</vt:lpstr>
      <vt:lpstr>Tools, Libraries, and IDEs Used</vt:lpstr>
      <vt:lpstr>Conclusion and Future Work</vt:lpstr>
      <vt:lpstr>Acknowledgements &amp; Q/A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Tuncay Köse</dc:creator>
  <cp:lastModifiedBy>Tuncay KÖSE</cp:lastModifiedBy>
  <cp:revision>24</cp:revision>
  <dcterms:created xsi:type="dcterms:W3CDTF">2023-03-14T21:03:25Z</dcterms:created>
  <dcterms:modified xsi:type="dcterms:W3CDTF">2025-08-01T06:48:43Z</dcterms:modified>
</cp:coreProperties>
</file>